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79" r:id="rId2"/>
    <p:sldId id="258" r:id="rId3"/>
    <p:sldId id="264" r:id="rId4"/>
    <p:sldId id="259" r:id="rId5"/>
    <p:sldId id="262" r:id="rId6"/>
    <p:sldId id="265" r:id="rId7"/>
    <p:sldId id="282" r:id="rId8"/>
    <p:sldId id="283" r:id="rId9"/>
    <p:sldId id="266" r:id="rId10"/>
    <p:sldId id="284" r:id="rId11"/>
    <p:sldId id="273" r:id="rId12"/>
    <p:sldId id="276" r:id="rId13"/>
    <p:sldId id="260" r:id="rId14"/>
    <p:sldId id="263" r:id="rId15"/>
    <p:sldId id="267" r:id="rId16"/>
    <p:sldId id="268" r:id="rId17"/>
    <p:sldId id="270" r:id="rId18"/>
    <p:sldId id="271" r:id="rId19"/>
    <p:sldId id="274" r:id="rId20"/>
    <p:sldId id="275" r:id="rId21"/>
    <p:sldId id="277" r:id="rId22"/>
    <p:sldId id="280" r:id="rId23"/>
    <p:sldId id="281" r:id="rId24"/>
    <p:sldId id="27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A739"/>
    <a:srgbClr val="C40F0F"/>
    <a:srgbClr val="FF820E"/>
    <a:srgbClr val="2CA02C"/>
    <a:srgbClr val="96BFDC"/>
    <a:srgbClr val="5497C6"/>
    <a:srgbClr val="FFDAB9"/>
    <a:srgbClr val="FF9537"/>
    <a:srgbClr val="BFE3B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74" autoAdjust="0"/>
    <p:restoredTop sz="88143" autoAdjust="0"/>
  </p:normalViewPr>
  <p:slideViewPr>
    <p:cSldViewPr snapToGrid="0">
      <p:cViewPr varScale="1">
        <p:scale>
          <a:sx n="84" d="100"/>
          <a:sy n="84" d="100"/>
        </p:scale>
        <p:origin x="25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EFE9C4-D244-40CE-A9C1-B4541C60206C}" type="datetimeFigureOut">
              <a:rPr lang="en-US" smtClean="0"/>
              <a:t>10-26(Sun)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6CEB9-8891-418D-B4FB-0045D58C1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046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6CEB9-8891-418D-B4FB-0045D58C159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3890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6CEB9-8891-418D-B4FB-0045D58C159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0572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B6CEB9-8891-418D-B4FB-0045D58C159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379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B6CEB9-8891-418D-B4FB-0045D58C159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183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D5D99-EA54-4D77-80D6-479B78762764}" type="datetime1">
              <a:rPr lang="en-US" smtClean="0"/>
              <a:t>10-26(Sun)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A209-9D9F-4360-B47F-B96023C17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60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B2F67-1207-491A-B57B-EFCB14FCBB7C}" type="datetime1">
              <a:rPr lang="en-US" smtClean="0"/>
              <a:t>10-26(Sun)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A209-9D9F-4360-B47F-B96023C17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993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EBECD-1D3D-49C6-B62D-67BF4DF81424}" type="datetime1">
              <a:rPr lang="en-US" smtClean="0"/>
              <a:t>10-26(Sun)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A209-9D9F-4360-B47F-B96023C17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919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011AE-7F38-4C46-B4BE-4E7C77D97C3A}" type="datetime1">
              <a:rPr lang="en-US" smtClean="0"/>
              <a:t>10-26(Sun)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A209-9D9F-4360-B47F-B96023C17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923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149F7-CB15-443B-9126-F2D70CF472FA}" type="datetime1">
              <a:rPr lang="en-US" smtClean="0"/>
              <a:t>10-26(Sun)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A209-9D9F-4360-B47F-B96023C17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5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0471-F390-420E-A4EE-6C5D07C9764F}" type="datetime1">
              <a:rPr lang="en-US" smtClean="0"/>
              <a:t>10-26(Sun)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A209-9D9F-4360-B47F-B96023C17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889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F03EF-ACE9-4D5B-9C01-EB33CAE20213}" type="datetime1">
              <a:rPr lang="en-US" smtClean="0"/>
              <a:t>10-26(Sun)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A209-9D9F-4360-B47F-B96023C17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554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BCD91-14A4-41B7-9246-AEBAE933DAF1}" type="datetime1">
              <a:rPr lang="en-US" smtClean="0"/>
              <a:t>10-26(Sun)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A209-9D9F-4360-B47F-B96023C17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020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F2C93-4BAD-49E1-84DB-5D72C9EBD9E4}" type="datetime1">
              <a:rPr lang="en-US" smtClean="0"/>
              <a:t>10-26(Sun)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A209-9D9F-4360-B47F-B96023C17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282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79698-AB48-4255-B66C-2021CA91A188}" type="datetime1">
              <a:rPr lang="en-US" smtClean="0"/>
              <a:t>10-26(Sun)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A209-9D9F-4360-B47F-B96023C17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474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B67F6-27EC-4DDD-9F35-300BC823CF91}" type="datetime1">
              <a:rPr lang="en-US" smtClean="0"/>
              <a:t>10-26(Sun)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A209-9D9F-4360-B47F-B96023C17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106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F19CBF-5B93-4F38-8BE3-44F86F8026B1}" type="datetime1">
              <a:rPr lang="en-US" smtClean="0"/>
              <a:t>10-26(Sun)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5FA209-9D9F-4360-B47F-B96023C17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245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.emf"/><Relationship Id="rId7" Type="http://schemas.openxmlformats.org/officeDocument/2006/relationships/image" Target="../media/image4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image" Target="../media/image6.emf"/><Relationship Id="rId7" Type="http://schemas.openxmlformats.org/officeDocument/2006/relationships/image" Target="../media/image10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emf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18.em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0.png"/><Relationship Id="rId9" Type="http://schemas.openxmlformats.org/officeDocument/2006/relationships/image" Target="../media/image24.png"/><Relationship Id="rId1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emf"/><Relationship Id="rId3" Type="http://schemas.openxmlformats.org/officeDocument/2006/relationships/image" Target="../media/image39.emf"/><Relationship Id="rId7" Type="http://schemas.openxmlformats.org/officeDocument/2006/relationships/image" Target="../media/image45.png"/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emf"/><Relationship Id="rId5" Type="http://schemas.openxmlformats.org/officeDocument/2006/relationships/image" Target="../media/image43.png"/><Relationship Id="rId4" Type="http://schemas.openxmlformats.org/officeDocument/2006/relationships/image" Target="../media/image40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7.png"/><Relationship Id="rId7" Type="http://schemas.openxmlformats.org/officeDocument/2006/relationships/image" Target="../media/image53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9" Type="http://schemas.openxmlformats.org/officeDocument/2006/relationships/image" Target="../media/image5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1.png"/><Relationship Id="rId7" Type="http://schemas.openxmlformats.org/officeDocument/2006/relationships/image" Target="../media/image67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0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.png"/><Relationship Id="rId4" Type="http://schemas.openxmlformats.org/officeDocument/2006/relationships/image" Target="../media/image7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e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Berlin Sans FB Demi" panose="020E0802020502020306" pitchFamily="34" charset="0"/>
              </a:rPr>
              <a:t>Li- ion modeling</a:t>
            </a:r>
            <a:br>
              <a:rPr lang="en-US" dirty="0">
                <a:latin typeface="Berlin Sans FB Demi" panose="020E0802020502020306" pitchFamily="34" charset="0"/>
              </a:rPr>
            </a:br>
            <a:r>
              <a:rPr lang="en-US" sz="5400" b="1" dirty="0"/>
              <a:t>physics-based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021138"/>
            <a:ext cx="9144000" cy="1655762"/>
          </a:xfrm>
        </p:spPr>
        <p:txBody>
          <a:bodyPr/>
          <a:lstStyle/>
          <a:p>
            <a:r>
              <a:rPr lang="en-US" dirty="0"/>
              <a:t>Dongmyung Suh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A209-9D9F-4360-B47F-B96023C179C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267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167" y="360282"/>
            <a:ext cx="8569433" cy="1325563"/>
          </a:xfrm>
        </p:spPr>
        <p:txBody>
          <a:bodyPr>
            <a:normAutofit/>
          </a:bodyPr>
          <a:lstStyle/>
          <a:p>
            <a:r>
              <a:rPr lang="en-US" sz="3600" b="1" dirty="0"/>
              <a:t>Design of Li ion battery simulation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2300" y="1946195"/>
            <a:ext cx="10515600" cy="4232355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Physics based Li-ion cell model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requires considering thermodynamics, mass/charge transfer, electrochemical reaction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Spectral Element Method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as numerical method (high numerical accuracy and stability)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Powell hybrid method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is applied to solving the system of 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non-linear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algebraic equations.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Simulation should be 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transient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following charging/discharging cycle.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Calculation time step size is 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self- adjustable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Post-processing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module to analyze calculation results is also needed.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Simulation package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will be used freely without the concerns of license fee.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A209-9D9F-4360-B47F-B96023C179C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416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6096000" y="4207986"/>
            <a:ext cx="5523550" cy="207412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6096000" y="1884556"/>
            <a:ext cx="5523550" cy="207412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781350" cy="1325563"/>
          </a:xfrm>
        </p:spPr>
        <p:txBody>
          <a:bodyPr/>
          <a:lstStyle/>
          <a:p>
            <a:r>
              <a:rPr lang="en-US" b="1" dirty="0"/>
              <a:t>Li-ion battery (</a:t>
            </a:r>
            <a:r>
              <a:rPr lang="en-US" sz="3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Li</a:t>
            </a:r>
            <a:r>
              <a:rPr lang="en-US" sz="3600" b="1" i="1" baseline="-25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x</a:t>
            </a:r>
            <a:r>
              <a:rPr lang="en-US" sz="3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</a:t>
            </a:r>
            <a:r>
              <a:rPr lang="en-US" sz="3600" b="1" baseline="-25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6 </a:t>
            </a:r>
            <a:r>
              <a:rPr lang="en-US" sz="3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| Li </a:t>
            </a:r>
            <a:r>
              <a:rPr lang="en-US" sz="3600" b="1" i="1" baseline="-25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y</a:t>
            </a:r>
            <a:r>
              <a:rPr lang="en-US" sz="3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Mn</a:t>
            </a:r>
            <a:r>
              <a:rPr lang="en-US" sz="3600" b="1" baseline="-25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2</a:t>
            </a:r>
            <a:r>
              <a:rPr lang="en-US" sz="36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O</a:t>
            </a:r>
            <a:r>
              <a:rPr lang="en-US" sz="3600" b="1" baseline="-25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4</a:t>
            </a:r>
            <a:r>
              <a:rPr lang="en-US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888" y="2560310"/>
            <a:ext cx="3893290" cy="26511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777093" y="2984356"/>
                <a:ext cx="2915547" cy="3651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2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200"/>
                        <m:t>−0.16 + 1.32 ∗ </m:t>
                      </m:r>
                      <m:r>
                        <m:rPr>
                          <m:nor/>
                        </m:rPr>
                        <a:rPr lang="en-US" sz="1200"/>
                        <m:t>np</m:t>
                      </m:r>
                      <m:r>
                        <m:rPr>
                          <m:nor/>
                        </m:rPr>
                        <a:rPr lang="en-US" sz="1200"/>
                        <m:t>.</m:t>
                      </m:r>
                      <m:r>
                        <m:rPr>
                          <m:nor/>
                        </m:rPr>
                        <a:rPr lang="en-US" sz="1200"/>
                        <m:t>exp</m:t>
                      </m:r>
                      <m:r>
                        <m:rPr>
                          <m:nor/>
                        </m:rPr>
                        <a:rPr lang="en-US" sz="1200"/>
                        <m:t>(−3.0 ∗ </m:t>
                      </m:r>
                      <m:r>
                        <m:rPr>
                          <m:nor/>
                        </m:rPr>
                        <a:rPr lang="en-US" sz="1200"/>
                        <m:t>x</m:t>
                      </m:r>
                      <m:r>
                        <m:rPr>
                          <m:nor/>
                        </m:rPr>
                        <a:rPr lang="en-US" sz="1200"/>
                        <m:t>) + 10.0 ∗ </m:t>
                      </m:r>
                      <m:r>
                        <m:rPr>
                          <m:nor/>
                        </m:rPr>
                        <a:rPr lang="en-US" sz="1200"/>
                        <m:t>np</m:t>
                      </m:r>
                      <m:r>
                        <m:rPr>
                          <m:nor/>
                        </m:rPr>
                        <a:rPr lang="en-US" sz="1200"/>
                        <m:t>.</m:t>
                      </m:r>
                      <m:r>
                        <m:rPr>
                          <m:nor/>
                        </m:rPr>
                        <a:rPr lang="en-US" sz="1200"/>
                        <m:t>exp</m:t>
                      </m:r>
                      <m:r>
                        <m:rPr>
                          <m:nor/>
                        </m:rPr>
                        <a:rPr lang="en-US" sz="1200"/>
                        <m:t>(−2000.0 ∗ </m:t>
                      </m:r>
                      <m:r>
                        <m:rPr>
                          <m:nor/>
                        </m:rPr>
                        <a:rPr lang="en-US" sz="1200"/>
                        <m:t>x</m:t>
                      </m:r>
                      <m:r>
                        <m:rPr>
                          <m:nor/>
                        </m:rPr>
                        <a:rPr lang="en-US" sz="1200"/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7093" y="2984356"/>
                <a:ext cx="2915547" cy="365100"/>
              </a:xfrm>
              <a:prstGeom prst="rect">
                <a:avLst/>
              </a:prstGeom>
              <a:blipFill rotWithShape="0">
                <a:blip r:embed="rId4"/>
                <a:stretch>
                  <a:fillRect r="-2510" b="-152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023017" y="5161247"/>
                <a:ext cx="4491990" cy="7814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nor/>
                        </m:rPr>
                        <a:rPr lang="en-US" sz="1200"/>
                        <m:t>4.1983 + 0.056566 ∗ </m:t>
                      </m:r>
                      <m:r>
                        <m:rPr>
                          <m:nor/>
                        </m:rPr>
                        <a:rPr lang="en-US" sz="1200"/>
                        <m:t>tanh</m:t>
                      </m:r>
                      <m:r>
                        <m:rPr>
                          <m:nor/>
                        </m:rPr>
                        <a:rPr lang="en-US" sz="1200"/>
                        <m:t>(−14.5546 ∗ </m:t>
                      </m:r>
                      <m:r>
                        <m:rPr>
                          <m:nor/>
                        </m:rPr>
                        <a:rPr lang="en-US" sz="1200"/>
                        <m:t>y</m:t>
                      </m:r>
                      <m:r>
                        <m:rPr>
                          <m:nor/>
                        </m:rPr>
                        <a:rPr lang="en-US" sz="1200"/>
                        <m:t> + 8.60942) 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US" sz="1200"/>
                        <m:t>− 0.0275479∗(</m:t>
                      </m:r>
                      <m:sSup>
                        <m:sSup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1200"/>
                            <m:t>(1.0 − </m:t>
                          </m:r>
                          <m:r>
                            <m:rPr>
                              <m:nor/>
                            </m:rPr>
                            <a:rPr lang="en-US" sz="1200"/>
                            <m:t>y</m:t>
                          </m:r>
                          <m:r>
                            <m:rPr>
                              <m:nor/>
                            </m:rPr>
                            <a:rPr lang="en-US" sz="1200"/>
                            <m:t>)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en-US" sz="1200"/>
                            <m:t>−0.492465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1200"/>
                        <m:t>− 1.90) 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US" sz="1200"/>
                        <m:t>− 0.157123 ∗ </m:t>
                      </m:r>
                      <m:r>
                        <m:rPr>
                          <m:nor/>
                        </m:rPr>
                        <a:rPr lang="en-US" sz="1200"/>
                        <m:t>exp</m:t>
                      </m:r>
                      <m:r>
                        <m:rPr>
                          <m:nor/>
                        </m:rPr>
                        <a:rPr lang="en-US" sz="1200"/>
                        <m:t>(−0.04738 ∗</m:t>
                      </m:r>
                      <m:sSup>
                        <m:sSup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8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1200"/>
                        <m:t> ) 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US" sz="1200"/>
                        <m:t>+ 0.810239 ∗ </m:t>
                      </m:r>
                      <m:r>
                        <m:rPr>
                          <m:nor/>
                        </m:rPr>
                        <a:rPr lang="en-US" sz="1200"/>
                        <m:t>exp</m:t>
                      </m:r>
                      <m:r>
                        <m:rPr>
                          <m:nor/>
                        </m:rPr>
                        <a:rPr lang="en-US" sz="1200"/>
                        <m:t>(−40 ∗ (</m:t>
                      </m:r>
                      <m:r>
                        <m:rPr>
                          <m:nor/>
                        </m:rPr>
                        <a:rPr lang="en-US" sz="1200"/>
                        <m:t>y</m:t>
                      </m:r>
                      <m:r>
                        <m:rPr>
                          <m:nor/>
                        </m:rPr>
                        <a:rPr lang="en-US" sz="1200"/>
                        <m:t> − 0.133875))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3017" y="5161247"/>
                <a:ext cx="4491990" cy="781496"/>
              </a:xfrm>
              <a:prstGeom prst="rect">
                <a:avLst/>
              </a:prstGeom>
              <a:blipFill rotWithShape="0">
                <a:blip r:embed="rId5"/>
                <a:stretch>
                  <a:fillRect b="-5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6622598" y="2477056"/>
            <a:ext cx="2824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Li</a:t>
            </a:r>
            <a:r>
              <a:rPr lang="en-US" i="1" baseline="-25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</a:t>
            </a:r>
            <a:r>
              <a:rPr lang="en-US" baseline="-25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6</a:t>
            </a:r>
            <a:r>
              <a:rPr lang="en-US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    ⇄</a:t>
            </a:r>
            <a:r>
              <a:rPr lang="en-US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lang="en-US" i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Li</a:t>
            </a:r>
            <a:r>
              <a:rPr lang="en-US" baseline="30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+ </a:t>
            </a:r>
            <a:r>
              <a:rPr lang="en-US" i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e</a:t>
            </a:r>
            <a:r>
              <a:rPr lang="en-US" baseline="30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+ C</a:t>
            </a:r>
            <a:r>
              <a:rPr lang="en-US" baseline="-25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2598" y="4582710"/>
            <a:ext cx="3638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Li</a:t>
            </a:r>
            <a:r>
              <a:rPr lang="en-US" baseline="30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+</a:t>
            </a:r>
            <a:r>
              <a:rPr lang="en-US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+ </a:t>
            </a:r>
            <a:r>
              <a:rPr lang="en-US" i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e</a:t>
            </a:r>
            <a:r>
              <a:rPr lang="en-US" baseline="30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+ Mn</a:t>
            </a:r>
            <a:r>
              <a:rPr lang="en-US" baseline="-25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O</a:t>
            </a:r>
            <a:r>
              <a:rPr lang="en-US" baseline="-25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4 </a:t>
            </a:r>
            <a:r>
              <a:rPr lang="en-US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 ⇄</a:t>
            </a:r>
            <a:r>
              <a:rPr lang="en-US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lang="en-US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Li </a:t>
            </a:r>
            <a:r>
              <a:rPr lang="en-US" i="1" baseline="-25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Mn</a:t>
            </a:r>
            <a:r>
              <a:rPr lang="en-US" baseline="-25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O</a:t>
            </a:r>
            <a:r>
              <a:rPr lang="en-US" baseline="-25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0" y="2006898"/>
            <a:ext cx="1953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Negative Electrode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0" y="4198547"/>
            <a:ext cx="1854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Positive Electrode</a:t>
            </a: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A209-9D9F-4360-B47F-B96023C179C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304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721" y="253053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/>
              <a:t>Physics Based Model of Li-ion battery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6366" y="1457559"/>
            <a:ext cx="44741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- in Electrode (Negative/Positive)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462" y="5656846"/>
            <a:ext cx="2343919" cy="741621"/>
          </a:xfrm>
          <a:prstGeom prst="rect">
            <a:avLst/>
          </a:prstGeom>
          <a:ln w="38100">
            <a:solidFill>
              <a:schemeClr val="accent2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7125904" y="6294367"/>
            <a:ext cx="2300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a</a:t>
            </a:r>
            <a:r>
              <a:rPr lang="en-US" sz="1400" i="1" baseline="-25000" dirty="0"/>
              <a:t>s</a:t>
            </a:r>
            <a:r>
              <a:rPr lang="en-US" sz="1200" i="1" dirty="0"/>
              <a:t> : specific area per unit volume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462" y="3225095"/>
            <a:ext cx="2536695" cy="665083"/>
          </a:xfrm>
          <a:prstGeom prst="rect">
            <a:avLst/>
          </a:prstGeom>
          <a:ln w="38100">
            <a:solidFill>
              <a:schemeClr val="accent5"/>
            </a:solidFill>
          </a:ln>
        </p:spPr>
      </p:pic>
      <p:sp>
        <p:nvSpPr>
          <p:cNvPr id="22" name="TextBox 21"/>
          <p:cNvSpPr txBox="1"/>
          <p:nvPr/>
        </p:nvSpPr>
        <p:spPr>
          <a:xfrm>
            <a:off x="753624" y="2413469"/>
            <a:ext cx="3166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  <a:latin typeface="Bookman Old Style" panose="02050604050505020204" pitchFamily="18" charset="0"/>
              </a:rPr>
              <a:t>- Conservation of Charge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3624" y="4826469"/>
            <a:ext cx="2933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Bookman Old Style" panose="02050604050505020204" pitchFamily="18" charset="0"/>
              </a:rPr>
              <a:t>- Conservation of Mass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5180505" y="2721498"/>
            <a:ext cx="1831655" cy="1745379"/>
            <a:chOff x="5029060" y="3144287"/>
            <a:chExt cx="1831655" cy="17453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5029060" y="3144287"/>
                  <a:ext cx="1599027" cy="276999"/>
                </a:xfrm>
                <a:prstGeom prst="rect">
                  <a:avLst/>
                </a:prstGeom>
                <a:noFill/>
                <a:ln w="19050">
                  <a:solidFill>
                    <a:schemeClr val="accent5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=0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 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9060" y="3144287"/>
                  <a:ext cx="1599027" cy="276999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2642" r="-1887" b="-20833"/>
                  </a:stretch>
                </a:blipFill>
                <a:ln w="19050">
                  <a:solidFill>
                    <a:schemeClr val="accent5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5029060" y="4308481"/>
                  <a:ext cx="1831655" cy="581185"/>
                </a:xfrm>
                <a:prstGeom prst="rect">
                  <a:avLst/>
                </a:prstGeom>
                <a:noFill/>
                <a:ln w="19050">
                  <a:solidFill>
                    <a:schemeClr val="accent5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𝑒𝑓𝑓</m:t>
                                </m:r>
                              </m:sub>
                            </m:sSub>
                            <m:d>
                              <m:dPr>
                                <m:begChr m:val=""/>
                                <m:endChr m:val="|"/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𝜑</m:t>
                                    </m:r>
                                  </m:num>
                                  <m:den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num>
                          <m:den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den>
                        </m:f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9060" y="4308481"/>
                  <a:ext cx="1831655" cy="581185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  <a:ln w="19050">
                  <a:solidFill>
                    <a:schemeClr val="accent5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/>
                <p:cNvSpPr txBox="1"/>
                <p:nvPr/>
              </p:nvSpPr>
              <p:spPr>
                <a:xfrm>
                  <a:off x="5041915" y="3541120"/>
                  <a:ext cx="1598258" cy="600036"/>
                </a:xfrm>
                <a:prstGeom prst="rect">
                  <a:avLst/>
                </a:prstGeom>
                <a:noFill/>
                <a:ln w="19050">
                  <a:solidFill>
                    <a:schemeClr val="accent5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𝑒𝑓𝑓</m:t>
                                </m:r>
                              </m:sub>
                            </m:sSub>
                            <m:d>
                              <m:dPr>
                                <m:begChr m:val=""/>
                                <m:endChr m:val="|"/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𝜑</m:t>
                                    </m:r>
                                  </m:num>
                                  <m:den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41915" y="3541120"/>
                  <a:ext cx="1598258" cy="600036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  <a:ln w="19050">
                  <a:solidFill>
                    <a:schemeClr val="accent5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5193360" y="5307848"/>
                <a:ext cx="1095685" cy="581441"/>
              </a:xfrm>
              <a:prstGeom prst="rect">
                <a:avLst/>
              </a:prstGeom>
              <a:noFill/>
              <a:ln w="19050">
                <a:solidFill>
                  <a:schemeClr val="accent2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sz="1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3360" y="5307848"/>
                <a:ext cx="1095685" cy="58144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90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5199644" y="6004416"/>
                <a:ext cx="1793376" cy="579902"/>
              </a:xfrm>
              <a:prstGeom prst="rect">
                <a:avLst/>
              </a:prstGeom>
              <a:noFill/>
              <a:ln w="19050">
                <a:solidFill>
                  <a:schemeClr val="accent2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f>
                                <m:f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sz="1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𝐿𝑖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9644" y="6004416"/>
                <a:ext cx="1793376" cy="57990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905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oup 47"/>
          <p:cNvGrpSpPr/>
          <p:nvPr/>
        </p:nvGrpSpPr>
        <p:grpSpPr>
          <a:xfrm>
            <a:off x="7327585" y="2620299"/>
            <a:ext cx="4668113" cy="3407357"/>
            <a:chOff x="7413763" y="2641081"/>
            <a:chExt cx="4668113" cy="3407357"/>
          </a:xfrm>
        </p:grpSpPr>
        <p:pic>
          <p:nvPicPr>
            <p:cNvPr id="42" name="Picture 41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413763" y="2641081"/>
              <a:ext cx="4668113" cy="3407357"/>
            </a:xfrm>
            <a:prstGeom prst="rect">
              <a:avLst/>
            </a:prstGeom>
          </p:spPr>
        </p:pic>
        <p:sp>
          <p:nvSpPr>
            <p:cNvPr id="43" name="TextBox 42"/>
            <p:cNvSpPr txBox="1"/>
            <p:nvPr/>
          </p:nvSpPr>
          <p:spPr>
            <a:xfrm>
              <a:off x="9161636" y="4575603"/>
              <a:ext cx="293670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b="1" i="1" dirty="0">
                  <a:solidFill>
                    <a:schemeClr val="tx1">
                      <a:lumMod val="50000"/>
                      <a:lumOff val="50000"/>
                    </a:schemeClr>
                  </a:solidFill>
                  <a:ea typeface="Cambria Math" panose="02040503050406030204" pitchFamily="18" charset="0"/>
                </a:rPr>
                <a:t>a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9671071" y="4590357"/>
              <a:ext cx="610353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i="1" dirty="0">
                  <a:solidFill>
                    <a:schemeClr val="tx1">
                      <a:lumMod val="50000"/>
                      <a:lumOff val="50000"/>
                    </a:schemeClr>
                  </a:solidFill>
                  <a:ea typeface="Cambria Math" panose="02040503050406030204" pitchFamily="18" charset="0"/>
                </a:rPr>
                <a:t>b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10150000" y="2985224"/>
              <a:ext cx="955711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rPr>
                <a:t>Li </a:t>
              </a:r>
              <a:r>
                <a:rPr lang="en-US" sz="1400" i="1" baseline="-25000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rPr>
                <a:t>y</a:t>
              </a:r>
              <a:r>
                <a:rPr lang="en-US" sz="1400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rPr>
                <a:t>Mn</a:t>
              </a:r>
              <a:r>
                <a:rPr lang="en-US" sz="1400" baseline="-25000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rPr>
                <a:t>2</a:t>
              </a:r>
              <a:r>
                <a:rPr lang="en-US" sz="1400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rPr>
                <a:t>O</a:t>
              </a:r>
              <a:r>
                <a:rPr lang="en-US" sz="1400" baseline="-25000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rPr>
                <a:t>4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9" name="Slide Number Placeholder 48"/>
          <p:cNvSpPr>
            <a:spLocks noGrp="1"/>
          </p:cNvSpPr>
          <p:nvPr>
            <p:ph type="sldNum" sz="quarter" idx="12"/>
          </p:nvPr>
        </p:nvSpPr>
        <p:spPr>
          <a:xfrm>
            <a:off x="8581572" y="6335568"/>
            <a:ext cx="2743200" cy="365125"/>
          </a:xfrm>
        </p:spPr>
        <p:txBody>
          <a:bodyPr/>
          <a:lstStyle/>
          <a:p>
            <a:fld id="{BA5FA209-9D9F-4360-B47F-B96023C179C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47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351" y="5173590"/>
            <a:ext cx="3610546" cy="558775"/>
          </a:xfrm>
          <a:prstGeom prst="rect">
            <a:avLst/>
          </a:prstGeom>
          <a:ln w="19050">
            <a:solidFill>
              <a:srgbClr val="FF820E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2946" y="5867292"/>
            <a:ext cx="1207500" cy="325000"/>
          </a:xfrm>
          <a:prstGeom prst="rect">
            <a:avLst/>
          </a:prstGeom>
          <a:ln>
            <a:solidFill>
              <a:srgbClr val="FF820E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3057" y="5166977"/>
            <a:ext cx="2100000" cy="572000"/>
          </a:xfrm>
          <a:prstGeom prst="rect">
            <a:avLst/>
          </a:prstGeom>
          <a:ln w="19050">
            <a:solidFill>
              <a:srgbClr val="FF820E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4351" y="2218922"/>
            <a:ext cx="4147500" cy="585000"/>
          </a:xfrm>
          <a:prstGeom prst="rect">
            <a:avLst/>
          </a:prstGeom>
          <a:ln w="38100">
            <a:solidFill>
              <a:srgbClr val="0070C0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2946" y="3062551"/>
            <a:ext cx="997500" cy="273000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3014" y="2218922"/>
            <a:ext cx="2257500" cy="624000"/>
          </a:xfrm>
          <a:prstGeom prst="rect">
            <a:avLst/>
          </a:prstGeom>
          <a:ln w="19050">
            <a:solidFill>
              <a:srgbClr val="0070C0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749479" y="778121"/>
            <a:ext cx="20268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- in Electrolyte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00" y="1498415"/>
            <a:ext cx="3166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  <a:latin typeface="Bookman Old Style" panose="02050604050505020204" pitchFamily="18" charset="0"/>
              </a:rPr>
              <a:t>- Conservation of Charge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00" y="4362049"/>
            <a:ext cx="2919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Bookman Old Style" panose="02050604050505020204" pitchFamily="18" charset="0"/>
              </a:rPr>
              <a:t>- Conservation of Mass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62946" y="3461639"/>
            <a:ext cx="2598723" cy="439529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25" name="Slide Number Placeholder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A209-9D9F-4360-B47F-B96023C179C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959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Electrochemical Reaction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40150"/>
            <a:ext cx="6351737" cy="617365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395704" y="1996087"/>
            <a:ext cx="3996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Butler-</a:t>
            </a:r>
            <a:r>
              <a:rPr lang="en-US" b="1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Volmer</a:t>
            </a:r>
            <a:r>
              <a:rPr lang="en-US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 Kinetic Equation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5881" y="4725809"/>
            <a:ext cx="4444718" cy="458582"/>
          </a:xfrm>
          <a:prstGeom prst="rect">
            <a:avLst/>
          </a:prstGeom>
          <a:ln w="12700">
            <a:solidFill>
              <a:srgbClr val="FF0000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5881" y="4021631"/>
            <a:ext cx="2288882" cy="340062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5040" y="1431593"/>
            <a:ext cx="2283750" cy="19305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8789" y="3692181"/>
            <a:ext cx="2310001" cy="1956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895603" y="3177427"/>
            <a:ext cx="1183722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/>
              <a:t>(a) Charging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5603" y="5427141"/>
            <a:ext cx="1414554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/>
              <a:t>(a) Discharging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A209-9D9F-4360-B47F-B96023C179C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0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EF97DD-DF00-DF3E-D36A-5CB21300B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A209-9D9F-4360-B47F-B96023C179CA}" type="slidenum">
              <a:rPr lang="en-US" smtClean="0"/>
              <a:t>7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FB959A8-2632-837C-2A7D-ADD2B2134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/>
              <a:t>Spectral Element Method (SEM)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305E3A-3010-7955-52D4-726943551163}"/>
              </a:ext>
            </a:extLst>
          </p:cNvPr>
          <p:cNvSpPr txBox="1"/>
          <p:nvPr/>
        </p:nvSpPr>
        <p:spPr>
          <a:xfrm>
            <a:off x="1477479" y="2269193"/>
            <a:ext cx="8087145" cy="2357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dirty="0"/>
              <a:t>High-Order FEM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dirty="0"/>
              <a:t>Lagrange polynomials as interpolating functions.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dirty="0"/>
              <a:t>Combined with interpolation scheme based on the Gauss-</a:t>
            </a:r>
            <a:r>
              <a:rPr lang="en-US" dirty="0" err="1"/>
              <a:t>Lobatto</a:t>
            </a:r>
            <a:r>
              <a:rPr lang="en-US" dirty="0"/>
              <a:t>-Legendre (GLL) collocation points 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dirty="0"/>
              <a:t>High Accuracy, Fast Converging and easy to parallelizing.</a:t>
            </a:r>
          </a:p>
        </p:txBody>
      </p:sp>
    </p:spTree>
    <p:extLst>
      <p:ext uri="{BB962C8B-B14F-4D97-AF65-F5344CB8AC3E}">
        <p14:creationId xmlns:p14="http://schemas.microsoft.com/office/powerpoint/2010/main" val="1965787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F5FE82-901B-46C6-098C-84B9E3851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A209-9D9F-4360-B47F-B96023C179CA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B61093-7374-BC7D-5434-BCC971F11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275" y="617606"/>
            <a:ext cx="3118675" cy="32068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F8F980A-17EC-C99D-71E1-94542CE2BCCA}"/>
                  </a:ext>
                </a:extLst>
              </p:cNvPr>
              <p:cNvSpPr txBox="1"/>
              <p:nvPr/>
            </p:nvSpPr>
            <p:spPr>
              <a:xfrm>
                <a:off x="5441656" y="630636"/>
                <a:ext cx="1662955" cy="5227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𝒚</m:t>
                      </m:r>
                      <m:d>
                        <m:dPr>
                          <m:ctrlPr>
                            <a:rPr lang="en-US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Sup>
                            <m:sSubSup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sub>
                            <m:sup>
                              <m:r>
                                <a:rPr lang="en-US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𝑵</m:t>
                              </m:r>
                            </m:sup>
                          </m:sSubSup>
                          <m: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1400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F8F980A-17EC-C99D-71E1-94542CE2BC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1656" y="630636"/>
                <a:ext cx="1662955" cy="522707"/>
              </a:xfrm>
              <a:prstGeom prst="rect">
                <a:avLst/>
              </a:prstGeom>
              <a:blipFill>
                <a:blip r:embed="rId3"/>
                <a:stretch>
                  <a:fillRect l="-2574" t="-144186" r="-32721" b="-20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9353702-FB11-7C95-07AD-1AB355494BCE}"/>
                  </a:ext>
                </a:extLst>
              </p:cNvPr>
              <p:cNvSpPr txBox="1"/>
              <p:nvPr/>
            </p:nvSpPr>
            <p:spPr>
              <a:xfrm>
                <a:off x="5512482" y="2104753"/>
                <a:ext cx="2423676" cy="5227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Sup>
                            <m:sSubSup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f>
                                <m:fPr>
                                  <m:ctrlPr>
                                    <a:rPr lang="en-US" sz="1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𝒅</m:t>
                                  </m:r>
                                </m:num>
                                <m:den>
                                  <m:r>
                                    <a:rPr lang="en-US" sz="1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𝒅𝒙</m:t>
                                  </m:r>
                                </m:den>
                              </m:f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sub>
                            <m:sup>
                              <m:r>
                                <a:rPr lang="en-US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𝑵</m:t>
                              </m:r>
                            </m:sup>
                          </m:sSubSup>
                          <m: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14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9353702-FB11-7C95-07AD-1AB355494B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2482" y="2104753"/>
                <a:ext cx="2423676" cy="522707"/>
              </a:xfrm>
              <a:prstGeom prst="rect">
                <a:avLst/>
              </a:prstGeom>
              <a:blipFill>
                <a:blip r:embed="rId4"/>
                <a:stretch>
                  <a:fillRect l="-1508" t="-144186" r="-11809" b="-20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D9EF1B2-1A24-930D-CF29-48B09F331D3B}"/>
                  </a:ext>
                </a:extLst>
              </p:cNvPr>
              <p:cNvSpPr txBox="1"/>
              <p:nvPr/>
            </p:nvSpPr>
            <p:spPr>
              <a:xfrm>
                <a:off x="8223466" y="2011753"/>
                <a:ext cx="2793008" cy="7637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1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e>
                      </m:d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en-US" sz="14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sSubSup>
                                    <m:sSubSupPr>
                                      <m:ctrlPr>
                                        <a:rPr lang="en-US" sz="1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f>
                                        <m:fPr>
                                          <m:ctrlPr>
                                            <a:rPr lang="en-US" sz="1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1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𝒅</m:t>
                                          </m:r>
                                        </m:num>
                                        <m:den>
                                          <m:r>
                                            <a:rPr lang="en-US" sz="1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𝒅𝒙</m:t>
                                          </m:r>
                                        </m:den>
                                      </m:f>
                                      <m:r>
                                        <a:rPr lang="en-US" sz="1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𝑰</m:t>
                                      </m:r>
                                    </m:e>
                                    <m:sub>
                                      <m:r>
                                        <a:rPr lang="en-US" sz="1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  <m:sup>
                                      <m:r>
                                        <a:rPr lang="en-US" sz="1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𝑵</m:t>
                                      </m:r>
                                    </m:sup>
                                  </m:sSubSup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1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e>
                          </m:d>
                        </m:e>
                        <m:sub>
                          <m: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1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1400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D9EF1B2-1A24-930D-CF29-48B09F331D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3466" y="2011753"/>
                <a:ext cx="2793008" cy="7637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AE51E4D-1FA5-79B0-F119-33ADC51CE756}"/>
                  </a:ext>
                </a:extLst>
              </p:cNvPr>
              <p:cNvSpPr txBox="1"/>
              <p:nvPr/>
            </p:nvSpPr>
            <p:spPr>
              <a:xfrm>
                <a:off x="5572590" y="3969123"/>
                <a:ext cx="1860125" cy="5227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′′</m:t>
                      </m:r>
                      <m:d>
                        <m:dPr>
                          <m:ctrlPr>
                            <a:rPr lang="en-US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e>
                            <m:sub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Sup>
                            <m:sSubSup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sub>
                            <m:sup>
                              <m:r>
                                <a:rPr lang="en-US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𝑵</m:t>
                              </m:r>
                            </m:sup>
                          </m:sSubSup>
                          <m: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14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AE51E4D-1FA5-79B0-F119-33ADC51CE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2590" y="3969123"/>
                <a:ext cx="1860125" cy="522707"/>
              </a:xfrm>
              <a:prstGeom prst="rect">
                <a:avLst/>
              </a:prstGeom>
              <a:blipFill>
                <a:blip r:embed="rId6"/>
                <a:stretch>
                  <a:fillRect l="-2951" t="-144186" r="-23934" b="-20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8FFA402-4617-A045-0A56-3757AB80E935}"/>
                  </a:ext>
                </a:extLst>
              </p:cNvPr>
              <p:cNvSpPr txBox="1"/>
              <p:nvPr/>
            </p:nvSpPr>
            <p:spPr>
              <a:xfrm>
                <a:off x="9323301" y="2764974"/>
                <a:ext cx="1317797" cy="7936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𝑫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1400" b="1" i="1" smtClean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1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  <m:sub>
                                          <m:r>
                                            <a:rPr lang="en-US" sz="1400" b="1" i="1" smtClean="0">
                                              <a:latin typeface="Cambria Math" panose="02040503050406030204" pitchFamily="18" charset="0"/>
                                            </a:rPr>
                                            <m:t>𝑵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𝑫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1400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8FFA402-4617-A045-0A56-3757AB80E9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3301" y="2764974"/>
                <a:ext cx="1317797" cy="79367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AA638AF-07EF-DE3A-8926-96C6481C6015}"/>
                  </a:ext>
                </a:extLst>
              </p:cNvPr>
              <p:cNvSpPr txBox="1"/>
              <p:nvPr/>
            </p:nvSpPr>
            <p:spPr>
              <a:xfrm>
                <a:off x="7936158" y="3811545"/>
                <a:ext cx="3622467" cy="9784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e>
                        <m:sub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sz="1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e>
                      </m:d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en-US" sz="14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sSubSup>
                                    <m:sSubSupPr>
                                      <m:ctrlPr>
                                        <a:rPr lang="en-US" sz="1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f>
                                        <m:fPr>
                                          <m:ctrlPr>
                                            <a:rPr lang="en-US" sz="1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p>
                                            <m:sSupPr>
                                              <m:ctrlPr>
                                                <a:rPr lang="en-US" sz="1400" b="1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1400" b="1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𝒅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1400" b="1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𝟐</m:t>
                                              </m:r>
                                            </m:sup>
                                          </m:sSup>
                                        </m:num>
                                        <m:den>
                                          <m:r>
                                            <a:rPr lang="en-US" sz="14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𝒅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1400" b="1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1400" b="1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1400" b="1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𝟐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  <m:r>
                                        <a:rPr lang="en-US" sz="1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𝑰</m:t>
                                      </m:r>
                                    </m:e>
                                    <m:sub>
                                      <m:r>
                                        <a:rPr lang="en-US" sz="1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  <m:sup>
                                      <m:r>
                                        <a:rPr lang="en-US" sz="1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𝑵</m:t>
                                      </m:r>
                                    </m:sup>
                                  </m:sSubSup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1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e>
                          </m:d>
                        </m:e>
                        <m:sub>
                          <m: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1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sub>
                      </m:sSub>
                      <m:r>
                        <a:rPr lang="en-US" sz="14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14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1400" b="1" dirty="0"/>
              </a:p>
              <a:p>
                <a:endParaRPr lang="en-US" sz="1400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AA638AF-07EF-DE3A-8926-96C6481C6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6158" y="3811545"/>
                <a:ext cx="3622467" cy="97847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1AA6BE1-3195-2D4F-BDEA-6381CA87C7C4}"/>
                  </a:ext>
                </a:extLst>
              </p:cNvPr>
              <p:cNvSpPr txBox="1"/>
              <p:nvPr/>
            </p:nvSpPr>
            <p:spPr>
              <a:xfrm>
                <a:off x="5803639" y="1367418"/>
                <a:ext cx="4038600" cy="4946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b="1" dirty="0">
                    <a:ea typeface="Cambria Math" panose="02040503050406030204" pitchFamily="18" charset="0"/>
                  </a:rPr>
                  <a:t>Lagrange Polynomials: </a:t>
                </a:r>
                <a14:m>
                  <m:oMath xmlns:m="http://schemas.openxmlformats.org/officeDocument/2006/math">
                    <m:r>
                      <a:rPr lang="en-US" sz="14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sz="1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r>
                          <a:rPr lang="en-US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𝑵</m:t>
                        </m:r>
                      </m:sup>
                    </m:sSubSup>
                    <m:d>
                      <m:dPr>
                        <m:ctrlPr>
                          <a:rPr lang="en-US" sz="1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ctrlPr>
                          <a:rPr lang="en-US" sz="1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𝒋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r>
                          <a:rPr lang="en-US" sz="1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𝑵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p>
                      <m:e>
                        <m:f>
                          <m:fPr>
                            <m:ctrlPr>
                              <a:rPr lang="en-US" sz="1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sz="1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en-US" sz="1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𝒋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1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sz="1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sz="1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𝒋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</m:e>
                    </m:nary>
                    <m:r>
                      <a:rPr lang="en-US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1AA6BE1-3195-2D4F-BDEA-6381CA87C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3639" y="1367418"/>
                <a:ext cx="4038600" cy="494623"/>
              </a:xfrm>
              <a:prstGeom prst="rect">
                <a:avLst/>
              </a:prstGeom>
              <a:blipFill>
                <a:blip r:embed="rId9"/>
                <a:stretch>
                  <a:fillRect l="-452" t="-44444" b="-81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BBF0E95-F30C-91E4-ECA5-A0DDE50A1503}"/>
                  </a:ext>
                </a:extLst>
              </p:cNvPr>
              <p:cNvSpPr txBox="1"/>
              <p:nvPr/>
            </p:nvSpPr>
            <p:spPr>
              <a:xfrm>
                <a:off x="186294" y="5187180"/>
                <a:ext cx="4857268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b="1" dirty="0">
                    <a:ea typeface="Cambria Math" panose="02040503050406030204" pitchFamily="18" charset="0"/>
                  </a:rPr>
                  <a:t>Collocation  Points </a:t>
                </a:r>
                <a14:m>
                  <m:oMath xmlns:m="http://schemas.openxmlformats.org/officeDocument/2006/math">
                    <m:r>
                      <a:rPr lang="en-US" sz="18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Roots of N</a:t>
                </a:r>
                <a:r>
                  <a:rPr lang="en-US" baseline="30000" dirty="0"/>
                  <a:t>th</a:t>
                </a:r>
                <a:r>
                  <a:rPr lang="en-US" dirty="0"/>
                  <a:t> order  Legendre Polynomials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More densely placed at boundary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Avoid overshooting at boundary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Boundary Condition considered accurately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BBF0E95-F30C-91E4-ECA5-A0DDE50A15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294" y="5187180"/>
                <a:ext cx="4857268" cy="1477328"/>
              </a:xfrm>
              <a:prstGeom prst="rect">
                <a:avLst/>
              </a:prstGeom>
              <a:blipFill>
                <a:blip r:embed="rId10"/>
                <a:stretch>
                  <a:fillRect l="-1131" t="-2479" b="-5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50D8A86-AB9F-F9D7-C52B-FEDB7039FCD7}"/>
                  </a:ext>
                </a:extLst>
              </p:cNvPr>
              <p:cNvSpPr txBox="1"/>
              <p:nvPr/>
            </p:nvSpPr>
            <p:spPr>
              <a:xfrm>
                <a:off x="9446381" y="1453745"/>
                <a:ext cx="1570093" cy="3435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𝑵</m:t>
                          </m:r>
                        </m:sup>
                      </m:sSubSup>
                      <m:d>
                        <m:dPr>
                          <m:ctrlP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e>
                      </m:d>
                      <m:r>
                        <a:rPr lang="en-US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𝜹</m:t>
                          </m:r>
                        </m:e>
                        <m:sub>
                          <m: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50D8A86-AB9F-F9D7-C52B-FEDB7039FC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6381" y="1453745"/>
                <a:ext cx="1570093" cy="34355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589AC356-EF7F-6FEB-30DB-0A36909D9C48}"/>
              </a:ext>
            </a:extLst>
          </p:cNvPr>
          <p:cNvGrpSpPr/>
          <p:nvPr/>
        </p:nvGrpSpPr>
        <p:grpSpPr>
          <a:xfrm>
            <a:off x="5355748" y="2898098"/>
            <a:ext cx="3820547" cy="874629"/>
            <a:chOff x="4652893" y="2813451"/>
            <a:chExt cx="3820547" cy="874629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B52F59B-5569-0560-6F94-18C668106099}"/>
                </a:ext>
              </a:extLst>
            </p:cNvPr>
            <p:cNvSpPr/>
            <p:nvPr/>
          </p:nvSpPr>
          <p:spPr>
            <a:xfrm>
              <a:off x="4652893" y="2813451"/>
              <a:ext cx="3820547" cy="874629"/>
            </a:xfrm>
            <a:prstGeom prst="rect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439ECA4-AA6B-217D-7FCD-DE2AE7D01908}"/>
                </a:ext>
              </a:extLst>
            </p:cNvPr>
            <p:cNvGrpSpPr/>
            <p:nvPr/>
          </p:nvGrpSpPr>
          <p:grpSpPr>
            <a:xfrm>
              <a:off x="5892772" y="2937872"/>
              <a:ext cx="2423677" cy="635199"/>
              <a:chOff x="7178480" y="5619844"/>
              <a:chExt cx="4024442" cy="971220"/>
            </a:xfrm>
          </p:grpSpPr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FC334C7F-6A40-D47B-2757-BE454D5C18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260342" y="5662816"/>
                <a:ext cx="3900671" cy="928248"/>
              </a:xfrm>
              <a:prstGeom prst="rect">
                <a:avLst/>
              </a:prstGeom>
            </p:spPr>
          </p:pic>
          <p:sp>
            <p:nvSpPr>
              <p:cNvPr id="25" name="Left Bracket 24">
                <a:extLst>
                  <a:ext uri="{FF2B5EF4-FFF2-40B4-BE49-F238E27FC236}">
                    <a16:creationId xmlns:a16="http://schemas.microsoft.com/office/drawing/2014/main" id="{5DE9347C-0711-ED6E-1215-64384A3C05F5}"/>
                  </a:ext>
                </a:extLst>
              </p:cNvPr>
              <p:cNvSpPr/>
              <p:nvPr/>
            </p:nvSpPr>
            <p:spPr>
              <a:xfrm>
                <a:off x="7178480" y="5619844"/>
                <a:ext cx="73152" cy="914399"/>
              </a:xfrm>
              <a:prstGeom prst="leftBracke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Left Bracket 25">
                <a:extLst>
                  <a:ext uri="{FF2B5EF4-FFF2-40B4-BE49-F238E27FC236}">
                    <a16:creationId xmlns:a16="http://schemas.microsoft.com/office/drawing/2014/main" id="{92DDC4E8-12AB-5B7C-DA73-551CB1BC8DF1}"/>
                  </a:ext>
                </a:extLst>
              </p:cNvPr>
              <p:cNvSpPr/>
              <p:nvPr/>
            </p:nvSpPr>
            <p:spPr>
              <a:xfrm flipH="1">
                <a:off x="11157203" y="5619844"/>
                <a:ext cx="45719" cy="914400"/>
              </a:xfrm>
              <a:prstGeom prst="leftBracke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DAEEFD6-8991-DCE4-C6A5-ED0EDE9F27FB}"/>
                </a:ext>
              </a:extLst>
            </p:cNvPr>
            <p:cNvSpPr txBox="1"/>
            <p:nvPr/>
          </p:nvSpPr>
          <p:spPr>
            <a:xfrm>
              <a:off x="4652893" y="3131024"/>
              <a:ext cx="12346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i="1" kern="0" dirty="0">
                  <a:solidFill>
                    <a:srgbClr val="000000"/>
                  </a:solidFill>
                  <a:latin typeface="Arial" panose="020B0604020202020204" pitchFamily="34" charset="0"/>
                  <a:ea typeface="Adobe 고딕 Std B" panose="020B0800000000000000" pitchFamily="34" charset="-127"/>
                  <a:cs typeface="Arial" panose="020B0604020202020204" pitchFamily="34" charset="0"/>
                </a:rPr>
                <a:t>D (5</a:t>
              </a:r>
              <a:r>
                <a:rPr lang="en-US" sz="1200" b="1" i="1" kern="0" baseline="30000" dirty="0">
                  <a:solidFill>
                    <a:srgbClr val="000000"/>
                  </a:solidFill>
                  <a:latin typeface="Arial" panose="020B0604020202020204" pitchFamily="34" charset="0"/>
                  <a:ea typeface="Adobe 고딕 Std B" panose="020B0800000000000000" pitchFamily="34" charset="-127"/>
                  <a:cs typeface="Arial" panose="020B0604020202020204" pitchFamily="34" charset="0"/>
                </a:rPr>
                <a:t>th</a:t>
              </a:r>
              <a:r>
                <a:rPr lang="en-US" sz="1200" b="1" i="1" kern="0" dirty="0">
                  <a:solidFill>
                    <a:srgbClr val="000000"/>
                  </a:solidFill>
                  <a:latin typeface="Arial" panose="020B0604020202020204" pitchFamily="34" charset="0"/>
                  <a:ea typeface="Adobe 고딕 Std B" panose="020B0800000000000000" pitchFamily="34" charset="-127"/>
                  <a:cs typeface="Arial" panose="020B0604020202020204" pitchFamily="34" charset="0"/>
                </a:rPr>
                <a:t> Order) =</a:t>
              </a:r>
              <a:endParaRPr lang="en-US" sz="1200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068CB3AA-BFAF-27D9-DA91-0474485A2A1E}"/>
              </a:ext>
            </a:extLst>
          </p:cNvPr>
          <p:cNvSpPr txBox="1"/>
          <p:nvPr/>
        </p:nvSpPr>
        <p:spPr>
          <a:xfrm>
            <a:off x="5441656" y="5203565"/>
            <a:ext cx="4857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accent5">
                    <a:lumMod val="75000"/>
                  </a:schemeClr>
                </a:solidFill>
              </a:rPr>
              <a:t>Differential Equation  </a:t>
            </a:r>
            <a:r>
              <a:rPr lang="en-US" sz="1800" b="1" dirty="0">
                <a:solidFill>
                  <a:schemeClr val="accent5">
                    <a:lumMod val="75000"/>
                  </a:schemeClr>
                </a:solidFill>
                <a:sym typeface="Symbol" panose="05050102010706020507" pitchFamily="18" charset="2"/>
              </a:rPr>
              <a:t>  Algebraic Equation </a:t>
            </a:r>
            <a:endParaRPr lang="en-US" sz="1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bject 30">
                <a:extLst>
                  <a:ext uri="{FF2B5EF4-FFF2-40B4-BE49-F238E27FC236}">
                    <a16:creationId xmlns:a16="http://schemas.microsoft.com/office/drawing/2014/main" id="{A3500700-2CC3-6184-6D76-30B1006885A6}"/>
                  </a:ext>
                </a:extLst>
              </p:cNvPr>
              <p:cNvSpPr txBox="1"/>
              <p:nvPr/>
            </p:nvSpPr>
            <p:spPr>
              <a:xfrm>
                <a:off x="6096000" y="5765556"/>
                <a:ext cx="4668324" cy="4826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4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𝛽</m:t>
                      </m:r>
                      <m:f>
                        <m:fPr>
                          <m:ctrlPr>
                            <a:rPr lang="en-US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sz="14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  =  </m:t>
                      </m:r>
                      <m:d>
                        <m:dPr>
                          <m:ctrlPr>
                            <a:rPr lang="en-US" sz="1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𝛼</m:t>
                          </m:r>
                          <m:sSup>
                            <m:sSup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p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</m:d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 ⇒  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14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1" name="Object 30">
                <a:extLst>
                  <a:ext uri="{FF2B5EF4-FFF2-40B4-BE49-F238E27FC236}">
                    <a16:creationId xmlns:a16="http://schemas.microsoft.com/office/drawing/2014/main" id="{A3500700-2CC3-6184-6D76-30B1006885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765556"/>
                <a:ext cx="4668324" cy="4826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" name="Picture 34">
            <a:extLst>
              <a:ext uri="{FF2B5EF4-FFF2-40B4-BE49-F238E27FC236}">
                <a16:creationId xmlns:a16="http://schemas.microsoft.com/office/drawing/2014/main" id="{579ED0D2-F67C-0034-4AA8-20643E7F4FE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14928" y="4161785"/>
            <a:ext cx="2470578" cy="1256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755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6746631" cy="854075"/>
          </a:xfrm>
        </p:spPr>
        <p:txBody>
          <a:bodyPr>
            <a:normAutofit/>
          </a:bodyPr>
          <a:lstStyle/>
          <a:p>
            <a:r>
              <a:rPr lang="en-US" sz="3600" b="1" dirty="0"/>
              <a:t>Global  Matrix (</a:t>
            </a:r>
            <a:r>
              <a:rPr lang="en-US" sz="3600" b="1" i="1" dirty="0"/>
              <a:t>G</a:t>
            </a:r>
            <a:r>
              <a:rPr lang="en-US" b="1" i="1" dirty="0"/>
              <a:t> </a:t>
            </a:r>
            <a:r>
              <a:rPr lang="en-US" sz="3600" b="1" dirty="0"/>
              <a:t>) in SEM</a:t>
            </a:r>
            <a:endParaRPr lang="en-US" sz="3600" dirty="0"/>
          </a:p>
        </p:txBody>
      </p:sp>
      <p:sp>
        <p:nvSpPr>
          <p:cNvPr id="33" name="Rectangle 32"/>
          <p:cNvSpPr/>
          <p:nvPr/>
        </p:nvSpPr>
        <p:spPr>
          <a:xfrm>
            <a:off x="6676692" y="2173147"/>
            <a:ext cx="4500447" cy="3653034"/>
          </a:xfrm>
          <a:prstGeom prst="rect">
            <a:avLst/>
          </a:prstGeom>
          <a:solidFill>
            <a:srgbClr val="CCECFF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561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55E3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34" name="Group 33"/>
          <p:cNvGrpSpPr/>
          <p:nvPr/>
        </p:nvGrpSpPr>
        <p:grpSpPr>
          <a:xfrm>
            <a:off x="6763387" y="2504903"/>
            <a:ext cx="4162087" cy="2480092"/>
            <a:chOff x="-132074" y="3517817"/>
            <a:chExt cx="3777569" cy="2006755"/>
          </a:xfrm>
        </p:grpSpPr>
        <p:grpSp>
          <p:nvGrpSpPr>
            <p:cNvPr id="35" name="Group 34"/>
            <p:cNvGrpSpPr/>
            <p:nvPr/>
          </p:nvGrpSpPr>
          <p:grpSpPr>
            <a:xfrm>
              <a:off x="570787" y="3517817"/>
              <a:ext cx="3074708" cy="2006755"/>
              <a:chOff x="1205787" y="3663950"/>
              <a:chExt cx="3074708" cy="2006755"/>
            </a:xfrm>
          </p:grpSpPr>
          <p:pic>
            <p:nvPicPr>
              <p:cNvPr id="37" name="Picture 36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205787" y="3663950"/>
                <a:ext cx="3074708" cy="2006755"/>
              </a:xfrm>
              <a:prstGeom prst="rect">
                <a:avLst/>
              </a:prstGeom>
            </p:spPr>
          </p:pic>
          <p:sp>
            <p:nvSpPr>
              <p:cNvPr id="38" name="TextBox 37"/>
              <p:cNvSpPr txBox="1"/>
              <p:nvPr/>
            </p:nvSpPr>
            <p:spPr>
              <a:xfrm>
                <a:off x="1496300" y="3791013"/>
                <a:ext cx="1016625" cy="230832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wrap="none" rtlCol="0">
                <a:spAutoFit/>
              </a:bodyPr>
              <a:lstStyle/>
              <a:p>
                <a:pPr marL="0" marR="0" lvl="0" indent="0" defTabSz="455613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55E3F"/>
                    </a:solidFill>
                    <a:effectLst/>
                    <a:uLnTx/>
                    <a:uFillTx/>
                    <a:ea typeface="ＭＳ Ｐゴシック" panose="020B0600070205080204" pitchFamily="34" charset="-128"/>
                  </a:rPr>
                  <a:t>M</a:t>
                </a:r>
                <a:r>
                  <a:rPr kumimoji="0" lang="en-US" sz="900" b="1" i="0" u="none" strike="noStrike" kern="0" cap="none" spc="0" normalizeH="0" baseline="-25000" noProof="0" dirty="0">
                    <a:ln>
                      <a:noFill/>
                    </a:ln>
                    <a:solidFill>
                      <a:srgbClr val="055E3F"/>
                    </a:solidFill>
                    <a:effectLst/>
                    <a:uLnTx/>
                    <a:uFillTx/>
                    <a:ea typeface="ＭＳ Ｐゴシック" panose="020B0600070205080204" pitchFamily="34" charset="-128"/>
                  </a:rPr>
                  <a:t>1</a:t>
                </a:r>
                <a:r>
                  <a:rPr kumimoji="0" lang="en-US" sz="9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55E3F"/>
                    </a:solidFill>
                    <a:effectLst/>
                    <a:uLnTx/>
                    <a:uFillTx/>
                    <a:ea typeface="ＭＳ Ｐゴシック" panose="020B0600070205080204" pitchFamily="34" charset="-128"/>
                  </a:rPr>
                  <a:t> for Element 1</a:t>
                </a: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1856976" y="4156184"/>
                <a:ext cx="655949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5613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55E3F"/>
                    </a:solidFill>
                    <a:effectLst/>
                    <a:uLnTx/>
                    <a:uFillTx/>
                    <a:ea typeface="ＭＳ Ｐゴシック" panose="020B0600070205080204" pitchFamily="34" charset="-128"/>
                  </a:rPr>
                  <a:t>M</a:t>
                </a:r>
                <a:r>
                  <a:rPr kumimoji="0" lang="en-US" sz="900" b="1" i="0" u="none" strike="noStrike" kern="0" cap="none" spc="0" normalizeH="0" baseline="-25000" noProof="0" dirty="0">
                    <a:ln>
                      <a:noFill/>
                    </a:ln>
                    <a:solidFill>
                      <a:srgbClr val="055E3F"/>
                    </a:solidFill>
                    <a:effectLst/>
                    <a:uLnTx/>
                    <a:uFillTx/>
                    <a:ea typeface="ＭＳ Ｐゴシック" panose="020B0600070205080204" pitchFamily="34" charset="-128"/>
                  </a:rPr>
                  <a:t>2</a:t>
                </a:r>
                <a:r>
                  <a:rPr kumimoji="0" lang="en-US" sz="9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55E3F"/>
                    </a:solidFill>
                    <a:effectLst/>
                    <a:uLnTx/>
                    <a:uFillTx/>
                    <a:ea typeface="ＭＳ Ｐゴシック" panose="020B0600070205080204" pitchFamily="34" charset="-128"/>
                  </a:rPr>
                  <a:t> for E 2</a:t>
                </a:r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2239654" y="4521355"/>
                <a:ext cx="32412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5613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55E3F"/>
                    </a:solidFill>
                    <a:effectLst/>
                    <a:uLnTx/>
                    <a:uFillTx/>
                    <a:ea typeface="ＭＳ Ｐゴシック" panose="020B0600070205080204" pitchFamily="34" charset="-128"/>
                  </a:rPr>
                  <a:t>M</a:t>
                </a:r>
                <a:r>
                  <a:rPr kumimoji="0" lang="en-US" sz="900" b="1" i="0" u="none" strike="noStrike" kern="0" cap="none" spc="0" normalizeH="0" baseline="-25000" noProof="0" dirty="0">
                    <a:ln>
                      <a:noFill/>
                    </a:ln>
                    <a:solidFill>
                      <a:srgbClr val="055E3F"/>
                    </a:solidFill>
                    <a:effectLst/>
                    <a:uLnTx/>
                    <a:uFillTx/>
                    <a:ea typeface="ＭＳ Ｐゴシック" panose="020B0600070205080204" pitchFamily="34" charset="-128"/>
                  </a:rPr>
                  <a:t>3</a:t>
                </a:r>
                <a:endParaRPr kumimoji="0" 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055E3F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2576204" y="4864255"/>
                <a:ext cx="32412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5613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55E3F"/>
                    </a:solidFill>
                    <a:effectLst/>
                    <a:uLnTx/>
                    <a:uFillTx/>
                    <a:ea typeface="ＭＳ Ｐゴシック" panose="020B0600070205080204" pitchFamily="34" charset="-128"/>
                  </a:rPr>
                  <a:t>M</a:t>
                </a:r>
                <a:r>
                  <a:rPr kumimoji="0" lang="en-US" sz="900" b="1" i="0" u="none" strike="noStrike" kern="0" cap="none" spc="0" normalizeH="0" baseline="-25000" noProof="0" dirty="0">
                    <a:ln>
                      <a:noFill/>
                    </a:ln>
                    <a:solidFill>
                      <a:srgbClr val="055E3F"/>
                    </a:solidFill>
                    <a:effectLst/>
                    <a:uLnTx/>
                    <a:uFillTx/>
                    <a:ea typeface="ＭＳ Ｐゴシック" panose="020B0600070205080204" pitchFamily="34" charset="-128"/>
                  </a:rPr>
                  <a:t>4</a:t>
                </a:r>
                <a:endParaRPr kumimoji="0" 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055E3F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>
                <a:off x="2900332" y="5247654"/>
                <a:ext cx="32412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5613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55E3F"/>
                    </a:solidFill>
                    <a:effectLst/>
                    <a:uLnTx/>
                    <a:uFillTx/>
                    <a:ea typeface="ＭＳ Ｐゴシック" panose="020B0600070205080204" pitchFamily="34" charset="-128"/>
                  </a:rPr>
                  <a:t>M</a:t>
                </a:r>
                <a:r>
                  <a:rPr kumimoji="0" lang="en-US" sz="900" b="1" i="0" u="none" strike="noStrike" kern="0" cap="none" spc="0" normalizeH="0" baseline="-25000" noProof="0" dirty="0">
                    <a:ln>
                      <a:noFill/>
                    </a:ln>
                    <a:solidFill>
                      <a:srgbClr val="055E3F"/>
                    </a:solidFill>
                    <a:effectLst/>
                    <a:uLnTx/>
                    <a:uFillTx/>
                    <a:ea typeface="ＭＳ Ｐゴシック" panose="020B0600070205080204" pitchFamily="34" charset="-128"/>
                  </a:rPr>
                  <a:t>5</a:t>
                </a:r>
                <a:endParaRPr kumimoji="0" 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055E3F"/>
                  </a:solidFill>
                  <a:effectLst/>
                  <a:uLnTx/>
                  <a:uFillTx/>
                  <a:ea typeface="ＭＳ Ｐゴシック" panose="020B0600070205080204" pitchFamily="34" charset="-128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/>
                <p:cNvSpPr txBox="1"/>
                <p:nvPr/>
              </p:nvSpPr>
              <p:spPr>
                <a:xfrm>
                  <a:off x="-132074" y="4204174"/>
                  <a:ext cx="496415" cy="317988"/>
                </a:xfrm>
                <a:prstGeom prst="rect">
                  <a:avLst/>
                </a:prstGeom>
                <a:solidFill>
                  <a:srgbClr val="FFFFFF"/>
                </a:solidFill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455613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 xmlns:m="http://schemas.openxmlformats.org/officeDocument/2006/math">
                      <m:r>
                        <a:rPr kumimoji="0" lang="en-US" sz="2000" b="1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Adobe 고딕 Std B" panose="020B0800000000000000" pitchFamily="34" charset="-127"/>
                          <a:cs typeface="Arial" panose="020B0604020202020204" pitchFamily="34" charset="0"/>
                        </a:rPr>
                        <m:t>𝑮</m:t>
                      </m:r>
                      <m:r>
                        <a:rPr kumimoji="0" lang="en-US" sz="2000" b="1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Adobe 고딕 Std B" panose="020B0800000000000000" pitchFamily="34" charset="-127"/>
                          <a:cs typeface="Arial" panose="020B0604020202020204" pitchFamily="34" charset="0"/>
                        </a:rPr>
                        <m:t> </m:t>
                      </m:r>
                    </m:oMath>
                  </a14:m>
                  <a:r>
                    <a:rPr kumimoji="0" lang="en-US" b="1" i="1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Adobe 고딕 Std B" panose="020B0800000000000000" pitchFamily="34" charset="-127"/>
                      <a:cs typeface="Arial" panose="020B0604020202020204" pitchFamily="34" charset="0"/>
                    </a:rPr>
                    <a:t>=</a:t>
                  </a:r>
                </a:p>
              </p:txBody>
            </p:sp>
          </mc:Choice>
          <mc:Fallback xmlns="">
            <p:sp>
              <p:nvSpPr>
                <p:cNvPr id="36" name="TextBox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32074" y="4204174"/>
                  <a:ext cx="496415" cy="317988"/>
                </a:xfrm>
                <a:prstGeom prst="rect">
                  <a:avLst/>
                </a:prstGeom>
                <a:blipFill>
                  <a:blip r:embed="rId3"/>
                  <a:stretch>
                    <a:fillRect t="-1538" r="-8889" b="-230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3" name="Rectangle 42"/>
          <p:cNvSpPr/>
          <p:nvPr/>
        </p:nvSpPr>
        <p:spPr>
          <a:xfrm>
            <a:off x="1026543" y="2173147"/>
            <a:ext cx="4306161" cy="3653034"/>
          </a:xfrm>
          <a:prstGeom prst="rect">
            <a:avLst/>
          </a:prstGeom>
          <a:solidFill>
            <a:srgbClr val="FCAF00">
              <a:lumMod val="20000"/>
              <a:lumOff val="80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561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55E3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905" y="2690724"/>
            <a:ext cx="3537841" cy="2287598"/>
          </a:xfrm>
          <a:prstGeom prst="rect">
            <a:avLst/>
          </a:prstGeom>
          <a:solidFill>
            <a:srgbClr val="FF0000"/>
          </a:solidFill>
          <a:ln>
            <a:noFill/>
          </a:ln>
        </p:spPr>
      </p:pic>
      <p:sp>
        <p:nvSpPr>
          <p:cNvPr id="45" name="TextBox 44"/>
          <p:cNvSpPr txBox="1"/>
          <p:nvPr/>
        </p:nvSpPr>
        <p:spPr>
          <a:xfrm>
            <a:off x="1298642" y="5316751"/>
            <a:ext cx="36241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561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055E3F"/>
                </a:solidFill>
                <a:ea typeface="ＭＳ Ｐゴシック" panose="020B0600070205080204" pitchFamily="34" charset="-128"/>
              </a:rPr>
              <a:t>Spectral elements and collocation points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71589" y="5316751"/>
            <a:ext cx="23093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561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055E3F"/>
                </a:solidFill>
                <a:ea typeface="ＭＳ Ｐゴシック" panose="020B0600070205080204" pitchFamily="34" charset="-128"/>
              </a:rPr>
              <a:t>Matrix Structure for SEM</a:t>
            </a:r>
          </a:p>
        </p:txBody>
      </p:sp>
      <p:sp>
        <p:nvSpPr>
          <p:cNvPr id="55" name="Slide Number Placeholder 5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A209-9D9F-4360-B47F-B96023C179CA}" type="slidenum">
              <a:rPr lang="en-US" smtClean="0"/>
              <a:t>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763876-8326-C894-FC18-4E1C557A773C}"/>
              </a:ext>
            </a:extLst>
          </p:cNvPr>
          <p:cNvSpPr txBox="1"/>
          <p:nvPr/>
        </p:nvSpPr>
        <p:spPr>
          <a:xfrm>
            <a:off x="1584960" y="1277338"/>
            <a:ext cx="58344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Assemble each element’s Matrix(M) into a global Matrix (G) </a:t>
            </a:r>
            <a:br>
              <a:rPr lang="en-US" dirty="0"/>
            </a:br>
            <a:r>
              <a:rPr lang="en-US" dirty="0"/>
              <a:t>using continuity at boundaries between elements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C24C941-4239-D054-FF4C-E83F47F99ABC}"/>
                  </a:ext>
                </a:extLst>
              </p:cNvPr>
              <p:cNvSpPr txBox="1"/>
              <p:nvPr/>
            </p:nvSpPr>
            <p:spPr>
              <a:xfrm>
                <a:off x="1266526" y="3144379"/>
                <a:ext cx="1470984" cy="508281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sz="1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𝒅𝒚</m:t>
                                  </m:r>
                                </m:num>
                                <m:den>
                                  <m:r>
                                    <a:rPr lang="en-US" sz="1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𝒅𝒙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1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1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1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  <m:sup>
                          <m:r>
                            <a:rPr lang="en-US" sz="1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𝑬</m:t>
                          </m:r>
                          <m:r>
                            <a:rPr lang="en-US" sz="1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  <m:r>
                        <a:rPr lang="en-US" sz="1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 </m:t>
                      </m:r>
                      <m:sSubSup>
                        <m:sSubSupPr>
                          <m:ctrlPr>
                            <a:rPr lang="en-US" sz="1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sz="1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𝒅𝒚</m:t>
                                  </m:r>
                                </m:num>
                                <m:den>
                                  <m:r>
                                    <a:rPr lang="en-US" sz="1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𝒅𝒙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1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1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1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  <m:sup>
                          <m:r>
                            <a:rPr lang="en-US" sz="1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𝑬</m:t>
                          </m:r>
                          <m:r>
                            <a:rPr lang="en-US" sz="1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</m:oMath>
                  </m:oMathPara>
                </a14:m>
                <a:endParaRPr lang="en-US" sz="1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C24C941-4239-D054-FF4C-E83F47F99A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6526" y="3144379"/>
                <a:ext cx="1470984" cy="508281"/>
              </a:xfrm>
              <a:prstGeom prst="rect">
                <a:avLst/>
              </a:prstGeom>
              <a:blipFill>
                <a:blip r:embed="rId5"/>
                <a:stretch>
                  <a:fillRect l="-20747" t="-144578" r="-18672" b="-212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DE3FDE4-CE5A-F5D4-DAFA-F1631773E469}"/>
                  </a:ext>
                </a:extLst>
              </p:cNvPr>
              <p:cNvSpPr txBox="1"/>
              <p:nvPr/>
            </p:nvSpPr>
            <p:spPr>
              <a:xfrm>
                <a:off x="1950720" y="4793656"/>
                <a:ext cx="28194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DE3FDE4-CE5A-F5D4-DAFA-F1631773E4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0720" y="4793656"/>
                <a:ext cx="281940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A019CA3D-4D96-C45E-2632-EB28271DE8C3}"/>
              </a:ext>
            </a:extLst>
          </p:cNvPr>
          <p:cNvSpPr/>
          <p:nvPr/>
        </p:nvSpPr>
        <p:spPr>
          <a:xfrm>
            <a:off x="2114550" y="4216699"/>
            <a:ext cx="45719" cy="4571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C9B91DE-24D9-895B-FA11-62563DE1CA55}"/>
              </a:ext>
            </a:extLst>
          </p:cNvPr>
          <p:cNvCxnSpPr>
            <a:cxnSpLocks/>
          </p:cNvCxnSpPr>
          <p:nvPr/>
        </p:nvCxnSpPr>
        <p:spPr>
          <a:xfrm flipH="1" flipV="1">
            <a:off x="2002018" y="3652660"/>
            <a:ext cx="121444" cy="564039"/>
          </a:xfrm>
          <a:prstGeom prst="straightConnector1">
            <a:avLst/>
          </a:prstGeom>
          <a:ln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1042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CDA78-18BE-EFC5-2A8F-65FD83DDA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Solving the system of Non-linear Algebraic Equations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F23BA2-6F9F-CBDF-C440-4501F74CC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A209-9D9F-4360-B47F-B96023C179CA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30">
                <a:extLst>
                  <a:ext uri="{FF2B5EF4-FFF2-40B4-BE49-F238E27FC236}">
                    <a16:creationId xmlns:a16="http://schemas.microsoft.com/office/drawing/2014/main" id="{BE554459-1C38-E2CD-107B-DF49E9D32AAC}"/>
                  </a:ext>
                </a:extLst>
              </p:cNvPr>
              <p:cNvSpPr txBox="1"/>
              <p:nvPr/>
            </p:nvSpPr>
            <p:spPr>
              <a:xfrm>
                <a:off x="2724150" y="2068916"/>
                <a:ext cx="5886450" cy="4826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4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𝛽</m:t>
                      </m:r>
                      <m:f>
                        <m:fPr>
                          <m:ctrlPr>
                            <a:rPr lang="en-US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sz="14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  =  </m:t>
                      </m:r>
                      <m:d>
                        <m:dPr>
                          <m:ctrlPr>
                            <a:rPr lang="en-US" sz="1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𝛼</m:t>
                          </m:r>
                          <m:sSup>
                            <m:sSup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p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</m:d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 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𝑪𝒐𝒏𝒔𝒕𝒂𝒏𝒕𝒔</m:t>
                      </m:r>
                    </m:oMath>
                  </m:oMathPara>
                </a14:m>
                <a:endParaRPr lang="en-US" sz="14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Object 30">
                <a:extLst>
                  <a:ext uri="{FF2B5EF4-FFF2-40B4-BE49-F238E27FC236}">
                    <a16:creationId xmlns:a16="http://schemas.microsoft.com/office/drawing/2014/main" id="{BE554459-1C38-E2CD-107B-DF49E9D32A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4150" y="2068916"/>
                <a:ext cx="5886450" cy="4826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CC9FF24C-A588-7BF2-D2C0-C8519C9E0E77}"/>
              </a:ext>
            </a:extLst>
          </p:cNvPr>
          <p:cNvSpPr txBox="1"/>
          <p:nvPr/>
        </p:nvSpPr>
        <p:spPr>
          <a:xfrm>
            <a:off x="1450384" y="1619831"/>
            <a:ext cx="2843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Linear Differential Equations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4EBDED-D33A-2B79-6A7C-9630DFBA5EDE}"/>
              </a:ext>
            </a:extLst>
          </p:cNvPr>
          <p:cNvSpPr txBox="1"/>
          <p:nvPr/>
        </p:nvSpPr>
        <p:spPr>
          <a:xfrm>
            <a:off x="3828081" y="2714476"/>
            <a:ext cx="3905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dirty="0" err="1">
                <a:solidFill>
                  <a:srgbClr val="013243"/>
                </a:solidFill>
                <a:effectLst/>
                <a:latin typeface="Lato" panose="020F0502020204030203" pitchFamily="34" charset="0"/>
              </a:rPr>
              <a:t>numpy.linalg.solve</a:t>
            </a:r>
            <a:r>
              <a:rPr lang="en-US" b="1" i="0" dirty="0">
                <a:solidFill>
                  <a:srgbClr val="013243"/>
                </a:solidFill>
                <a:effectLst/>
                <a:latin typeface="Lato" panose="020F0502020204030203" pitchFamily="34" charset="0"/>
              </a:rPr>
              <a:t>(M, Constants)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30">
                <a:extLst>
                  <a:ext uri="{FF2B5EF4-FFF2-40B4-BE49-F238E27FC236}">
                    <a16:creationId xmlns:a16="http://schemas.microsoft.com/office/drawing/2014/main" id="{1012BD42-6E5E-769E-DBCA-4318CF9250EB}"/>
                  </a:ext>
                </a:extLst>
              </p:cNvPr>
              <p:cNvSpPr txBox="1"/>
              <p:nvPr/>
            </p:nvSpPr>
            <p:spPr>
              <a:xfrm>
                <a:off x="2724150" y="4065185"/>
                <a:ext cx="5886450" cy="4826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4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𝛽</m:t>
                      </m:r>
                      <m:f>
                        <m:fPr>
                          <m:ctrlPr>
                            <a:rPr lang="en-US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sz="14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  =  </m:t>
                      </m:r>
                      <m:d>
                        <m:dPr>
                          <m:ctrlPr>
                            <a:rPr lang="en-US" sz="1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𝛼</m:t>
                          </m:r>
                          <m:sSup>
                            <m:sSup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p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</m:d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 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Object 30">
                <a:extLst>
                  <a:ext uri="{FF2B5EF4-FFF2-40B4-BE49-F238E27FC236}">
                    <a16:creationId xmlns:a16="http://schemas.microsoft.com/office/drawing/2014/main" id="{1012BD42-6E5E-769E-DBCA-4318CF925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4150" y="4065185"/>
                <a:ext cx="5886450" cy="4826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6831CF3E-C436-EA9E-DDBD-EBF52AF7678A}"/>
              </a:ext>
            </a:extLst>
          </p:cNvPr>
          <p:cNvSpPr txBox="1"/>
          <p:nvPr/>
        </p:nvSpPr>
        <p:spPr>
          <a:xfrm>
            <a:off x="1450384" y="3616100"/>
            <a:ext cx="3351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Non-Linear Differential Equations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098946-C722-6B18-1F10-F36ABB87E5A6}"/>
              </a:ext>
            </a:extLst>
          </p:cNvPr>
          <p:cNvSpPr txBox="1"/>
          <p:nvPr/>
        </p:nvSpPr>
        <p:spPr>
          <a:xfrm>
            <a:off x="3828081" y="4782143"/>
            <a:ext cx="60985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13243"/>
                </a:solidFill>
                <a:latin typeface="Lato" panose="020F0502020204030203" pitchFamily="34" charset="0"/>
              </a:rPr>
              <a:t>scipy.optimize.root</a:t>
            </a:r>
            <a:r>
              <a:rPr lang="en-US" b="1" dirty="0">
                <a:solidFill>
                  <a:srgbClr val="013243"/>
                </a:solidFill>
                <a:latin typeface="Lato" panose="020F0502020204030203" pitchFamily="34" charset="0"/>
              </a:rPr>
              <a:t>( fPM6a, </a:t>
            </a:r>
            <a:r>
              <a:rPr lang="en-US" b="1" dirty="0" err="1">
                <a:solidFill>
                  <a:srgbClr val="013243"/>
                </a:solidFill>
                <a:latin typeface="Lato" panose="020F0502020204030203" pitchFamily="34" charset="0"/>
              </a:rPr>
              <a:t>yAll</a:t>
            </a:r>
            <a:r>
              <a:rPr lang="en-US" b="1" dirty="0">
                <a:solidFill>
                  <a:srgbClr val="013243"/>
                </a:solidFill>
                <a:latin typeface="Lato" panose="020F0502020204030203" pitchFamily="34" charset="0"/>
              </a:rPr>
              <a:t>,  method="</a:t>
            </a:r>
            <a:r>
              <a:rPr lang="en-US" b="1" dirty="0" err="1">
                <a:solidFill>
                  <a:srgbClr val="013243"/>
                </a:solidFill>
                <a:latin typeface="Lato" panose="020F0502020204030203" pitchFamily="34" charset="0"/>
              </a:rPr>
              <a:t>hybr</a:t>
            </a:r>
            <a:r>
              <a:rPr lang="en-US" b="1" dirty="0">
                <a:solidFill>
                  <a:srgbClr val="013243"/>
                </a:solidFill>
                <a:latin typeface="Lato" panose="020F0502020204030203" pitchFamily="34" charset="0"/>
              </a:rPr>
              <a:t>")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C898EB-E7E4-A6F8-E3F4-F1A1E35BD7AC}"/>
              </a:ext>
            </a:extLst>
          </p:cNvPr>
          <p:cNvSpPr txBox="1"/>
          <p:nvPr/>
        </p:nvSpPr>
        <p:spPr>
          <a:xfrm>
            <a:off x="481584" y="5711081"/>
            <a:ext cx="11495455" cy="5061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Abadi" panose="020B0604020104020204" pitchFamily="34" charset="0"/>
              </a:rPr>
              <a:t>Spectral Element Method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 &amp;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Abadi" panose="020B0604020104020204" pitchFamily="34" charset="0"/>
              </a:rPr>
              <a:t>Non-linear Solver were implemented in Li-ion simulation code (in Python)</a:t>
            </a:r>
          </a:p>
        </p:txBody>
      </p:sp>
    </p:spTree>
    <p:extLst>
      <p:ext uri="{BB962C8B-B14F-4D97-AF65-F5344CB8AC3E}">
        <p14:creationId xmlns:p14="http://schemas.microsoft.com/office/powerpoint/2010/main" val="3489582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680" y="418799"/>
            <a:ext cx="10959107" cy="57080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22357" y="967312"/>
            <a:ext cx="2015680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b="1" u="sng" dirty="0">
                <a:solidFill>
                  <a:schemeClr val="accent5"/>
                </a:solidFill>
                <a:ea typeface="Cambria Math" panose="02040503050406030204" pitchFamily="18" charset="0"/>
                <a:cs typeface="Arial" panose="020B0604020202020204" pitchFamily="34" charset="0"/>
              </a:rPr>
              <a:t>Negative Electrode:</a:t>
            </a:r>
          </a:p>
          <a:p>
            <a:r>
              <a:rPr lang="en-US" sz="1600" b="1" u="sng" dirty="0">
                <a:solidFill>
                  <a:schemeClr val="accent5"/>
                </a:solidFill>
                <a:ea typeface="Cambria Math" panose="02040503050406030204" pitchFamily="18" charset="0"/>
                <a:cs typeface="Arial" panose="020B0604020202020204" pitchFamily="34" charset="0"/>
              </a:rPr>
              <a:t>3 Elements,10</a:t>
            </a:r>
            <a:r>
              <a:rPr lang="en-US" sz="1600" b="1" u="sng" baseline="30000" dirty="0">
                <a:solidFill>
                  <a:schemeClr val="accent5"/>
                </a:solidFill>
                <a:ea typeface="Cambria Math" panose="02040503050406030204" pitchFamily="18" charset="0"/>
                <a:cs typeface="Arial" panose="020B0604020202020204" pitchFamily="34" charset="0"/>
              </a:rPr>
              <a:t>th</a:t>
            </a:r>
            <a:r>
              <a:rPr lang="en-US" sz="1600" b="1" u="sng" dirty="0">
                <a:solidFill>
                  <a:schemeClr val="accent5"/>
                </a:solidFill>
                <a:ea typeface="Cambria Math" panose="02040503050406030204" pitchFamily="18" charset="0"/>
                <a:cs typeface="Arial" panose="020B0604020202020204" pitchFamily="34" charset="0"/>
              </a:rPr>
              <a:t>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52043" y="1473540"/>
            <a:ext cx="2062168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b="1" u="sng" dirty="0">
                <a:solidFill>
                  <a:schemeClr val="accent5"/>
                </a:solidFill>
                <a:ea typeface="Cambria Math" panose="02040503050406030204" pitchFamily="18" charset="0"/>
                <a:cs typeface="Arial" panose="020B0604020202020204" pitchFamily="34" charset="0"/>
              </a:rPr>
              <a:t>Positive Electrode:</a:t>
            </a:r>
          </a:p>
          <a:p>
            <a:r>
              <a:rPr lang="en-US" sz="1600" b="1" u="sng" dirty="0">
                <a:solidFill>
                  <a:schemeClr val="accent5"/>
                </a:solidFill>
                <a:ea typeface="Cambria Math" panose="02040503050406030204" pitchFamily="18" charset="0"/>
                <a:cs typeface="Arial" panose="020B0604020202020204" pitchFamily="34" charset="0"/>
              </a:rPr>
              <a:t>5 Elements, 10</a:t>
            </a:r>
            <a:r>
              <a:rPr lang="en-US" sz="1600" b="1" u="sng" baseline="30000" dirty="0">
                <a:solidFill>
                  <a:schemeClr val="accent5"/>
                </a:solidFill>
                <a:ea typeface="Cambria Math" panose="02040503050406030204" pitchFamily="18" charset="0"/>
                <a:cs typeface="Arial" panose="020B0604020202020204" pitchFamily="34" charset="0"/>
              </a:rPr>
              <a:t>th</a:t>
            </a:r>
            <a:r>
              <a:rPr lang="en-US" sz="1600" b="1" u="sng" dirty="0">
                <a:solidFill>
                  <a:schemeClr val="accent5"/>
                </a:solidFill>
                <a:ea typeface="Cambria Math" panose="02040503050406030204" pitchFamily="18" charset="0"/>
                <a:cs typeface="Arial" panose="020B0604020202020204" pitchFamily="34" charset="0"/>
              </a:rPr>
              <a:t>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7173" y="5993568"/>
            <a:ext cx="24154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FF820E"/>
                </a:solidFill>
                <a:ea typeface="Cambria Math" panose="02040503050406030204" pitchFamily="18" charset="0"/>
                <a:cs typeface="Arial" panose="020B0604020202020204" pitchFamily="34" charset="0"/>
              </a:rPr>
              <a:t>Electrolyte:</a:t>
            </a:r>
          </a:p>
          <a:p>
            <a:r>
              <a:rPr lang="en-US" b="1" u="sng" dirty="0">
                <a:solidFill>
                  <a:srgbClr val="FF820E"/>
                </a:solidFill>
                <a:ea typeface="Cambria Math" panose="02040503050406030204" pitchFamily="18" charset="0"/>
                <a:cs typeface="Arial" panose="020B0604020202020204" pitchFamily="34" charset="0"/>
              </a:rPr>
              <a:t>9 Elements, 10</a:t>
            </a:r>
            <a:r>
              <a:rPr lang="en-US" b="1" u="sng" baseline="30000" dirty="0">
                <a:solidFill>
                  <a:srgbClr val="FF820E"/>
                </a:solidFill>
                <a:ea typeface="Cambria Math" panose="02040503050406030204" pitchFamily="18" charset="0"/>
                <a:cs typeface="Arial" panose="020B0604020202020204" pitchFamily="34" charset="0"/>
              </a:rPr>
              <a:t>th</a:t>
            </a:r>
            <a:r>
              <a:rPr lang="en-US" b="1" u="sng" dirty="0">
                <a:solidFill>
                  <a:srgbClr val="FF820E"/>
                </a:solidFill>
                <a:ea typeface="Cambria Math" panose="02040503050406030204" pitchFamily="18" charset="0"/>
                <a:cs typeface="Arial" panose="020B0604020202020204" pitchFamily="34" charset="0"/>
              </a:rPr>
              <a:t>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6030" y="581211"/>
            <a:ext cx="10884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2CA02C"/>
                </a:solidFill>
                <a:ea typeface="Cambria Math" panose="02040503050406030204" pitchFamily="18" charset="0"/>
                <a:cs typeface="Arial" panose="020B0604020202020204" pitchFamily="34" charset="0"/>
              </a:rPr>
              <a:t>particle:</a:t>
            </a:r>
          </a:p>
          <a:p>
            <a:r>
              <a:rPr lang="en-US" sz="1600" b="1" dirty="0">
                <a:solidFill>
                  <a:srgbClr val="2CA02C"/>
                </a:solidFill>
                <a:ea typeface="Cambria Math" panose="02040503050406030204" pitchFamily="18" charset="0"/>
                <a:cs typeface="Arial" panose="020B0604020202020204" pitchFamily="34" charset="0"/>
              </a:rPr>
              <a:t>1 Element,</a:t>
            </a:r>
          </a:p>
          <a:p>
            <a:r>
              <a:rPr lang="en-US" sz="1600" b="1" dirty="0">
                <a:solidFill>
                  <a:srgbClr val="2CA02C"/>
                </a:solidFill>
                <a:ea typeface="Cambria Math" panose="02040503050406030204" pitchFamily="18" charset="0"/>
                <a:cs typeface="Arial" panose="020B0604020202020204" pitchFamily="34" charset="0"/>
              </a:rPr>
              <a:t>20</a:t>
            </a:r>
            <a:r>
              <a:rPr lang="en-US" sz="1600" b="1" baseline="30000" dirty="0">
                <a:solidFill>
                  <a:srgbClr val="2CA02C"/>
                </a:solidFill>
                <a:ea typeface="Cambria Math" panose="02040503050406030204" pitchFamily="18" charset="0"/>
                <a:cs typeface="Arial" panose="020B0604020202020204" pitchFamily="34" charset="0"/>
              </a:rPr>
              <a:t>th</a:t>
            </a:r>
            <a:r>
              <a:rPr lang="en-US" sz="1600" b="1" dirty="0">
                <a:solidFill>
                  <a:srgbClr val="2CA02C"/>
                </a:solidFill>
                <a:ea typeface="Cambria Math" panose="02040503050406030204" pitchFamily="18" charset="0"/>
                <a:cs typeface="Arial" panose="020B0604020202020204" pitchFamily="34" charset="0"/>
              </a:rPr>
              <a:t>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64341" y="1374700"/>
            <a:ext cx="10884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  <a:ea typeface="Cambria Math" panose="02040503050406030204" pitchFamily="18" charset="0"/>
                <a:cs typeface="Arial" panose="020B0604020202020204" pitchFamily="34" charset="0"/>
              </a:rPr>
              <a:t>particle</a:t>
            </a:r>
          </a:p>
          <a:p>
            <a:r>
              <a:rPr lang="en-US" sz="1600" b="1" dirty="0">
                <a:solidFill>
                  <a:srgbClr val="C00000"/>
                </a:solidFill>
                <a:ea typeface="Cambria Math" panose="02040503050406030204" pitchFamily="18" charset="0"/>
                <a:cs typeface="Arial" panose="020B0604020202020204" pitchFamily="34" charset="0"/>
              </a:rPr>
              <a:t>1 Element,</a:t>
            </a:r>
          </a:p>
          <a:p>
            <a:r>
              <a:rPr lang="en-US" sz="1600" b="1" dirty="0">
                <a:solidFill>
                  <a:srgbClr val="C00000"/>
                </a:solidFill>
                <a:ea typeface="Cambria Math" panose="02040503050406030204" pitchFamily="18" charset="0"/>
                <a:cs typeface="Arial" panose="020B0604020202020204" pitchFamily="34" charset="0"/>
              </a:rPr>
              <a:t>20</a:t>
            </a:r>
            <a:r>
              <a:rPr lang="en-US" sz="1600" b="1" baseline="30000" dirty="0">
                <a:solidFill>
                  <a:srgbClr val="C00000"/>
                </a:solidFill>
                <a:ea typeface="Cambria Math" panose="02040503050406030204" pitchFamily="18" charset="0"/>
                <a:cs typeface="Arial" panose="020B0604020202020204" pitchFamily="34" charset="0"/>
              </a:rPr>
              <a:t>th</a:t>
            </a:r>
            <a:r>
              <a:rPr lang="en-US" sz="1600" b="1" dirty="0">
                <a:solidFill>
                  <a:srgbClr val="C00000"/>
                </a:solidFill>
                <a:ea typeface="Cambria Math" panose="02040503050406030204" pitchFamily="18" charset="0"/>
                <a:cs typeface="Arial" panose="020B0604020202020204" pitchFamily="34" charset="0"/>
              </a:rPr>
              <a:t> order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438150" y="5677958"/>
            <a:ext cx="0" cy="360099"/>
          </a:xfrm>
          <a:prstGeom prst="straightConnector1">
            <a:avLst/>
          </a:prstGeom>
          <a:ln>
            <a:solidFill>
              <a:srgbClr val="FF820E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6416040" y="4317569"/>
            <a:ext cx="232898" cy="3839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 flipV="1">
            <a:off x="2246811" y="1632857"/>
            <a:ext cx="788731" cy="2219126"/>
          </a:xfrm>
          <a:prstGeom prst="straightConnector1">
            <a:avLst/>
          </a:prstGeom>
          <a:ln>
            <a:solidFill>
              <a:srgbClr val="2CA02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9070582" y="2103120"/>
            <a:ext cx="911618" cy="2046045"/>
          </a:xfrm>
          <a:prstGeom prst="straightConnector1">
            <a:avLst/>
          </a:prstGeom>
          <a:ln>
            <a:solidFill>
              <a:srgbClr val="D627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4984892" y="1498820"/>
            <a:ext cx="0" cy="3228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679552" y="228927"/>
            <a:ext cx="550448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/>
              <a:t>Spectral Elements and Nodes </a:t>
            </a:r>
          </a:p>
          <a:p>
            <a:pPr algn="r"/>
            <a:r>
              <a:rPr lang="en-US" sz="3200" b="1" dirty="0"/>
              <a:t>in Li-ion Model (Pseudo 2D)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3740601" y="6267258"/>
                <a:ext cx="5109540" cy="32072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</m:t>
                    </m:r>
                    <m:box>
                      <m:box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r>
                          <m:rPr>
                            <m:brk m:alnAt="6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𝑅𝑇</m:t>
                            </m:r>
                          </m:den>
                        </m:f>
                      </m:e>
                    </m:box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𝐿𝑖</m:t>
                        </m:r>
                      </m:sub>
                    </m:sSub>
                    <m:box>
                      <m:box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𝑆𝐸𝐼</m:t>
                                </m:r>
                              </m:sub>
                            </m:sSub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box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)−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⁡(</m:t>
                    </m:r>
                    <m:box>
                      <m:box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𝑅𝑇</m:t>
                            </m:r>
                          </m:den>
                        </m:f>
                      </m:e>
                    </m:box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𝐿𝑖</m:t>
                        </m:r>
                      </m:sub>
                    </m:sSub>
                    <m:box>
                      <m:box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𝑆𝐸𝐼</m:t>
                                </m:r>
                              </m:sub>
                            </m:sSub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box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0601" y="6267258"/>
                <a:ext cx="5109540" cy="320729"/>
              </a:xfrm>
              <a:prstGeom prst="rect">
                <a:avLst/>
              </a:prstGeom>
              <a:blipFill rotWithShape="0">
                <a:blip r:embed="rId4"/>
                <a:stretch>
                  <a:fillRect l="-2021" b="-19643"/>
                </a:stretch>
              </a:blipFill>
              <a:ln w="19050"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/>
          <p:cNvCxnSpPr>
            <a:endCxn id="33" idx="1"/>
          </p:cNvCxnSpPr>
          <p:nvPr/>
        </p:nvCxnSpPr>
        <p:spPr>
          <a:xfrm>
            <a:off x="3066155" y="5288280"/>
            <a:ext cx="674446" cy="113934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Slide Number Placeholder 4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A209-9D9F-4360-B47F-B96023C179CA}" type="slidenum">
              <a:rPr lang="en-US" smtClean="0"/>
              <a:t>11</a:t>
            </a:fld>
            <a:endParaRPr lang="en-US" dirty="0"/>
          </a:p>
        </p:txBody>
      </p:sp>
      <p:cxnSp>
        <p:nvCxnSpPr>
          <p:cNvPr id="31" name="Straight Arrow Connector 30"/>
          <p:cNvCxnSpPr/>
          <p:nvPr/>
        </p:nvCxnSpPr>
        <p:spPr>
          <a:xfrm flipV="1">
            <a:off x="5873892" y="1955800"/>
            <a:ext cx="0" cy="27647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>
            <a:off x="4557184" y="4720590"/>
            <a:ext cx="4277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H="1">
            <a:off x="5873892" y="4720590"/>
            <a:ext cx="2333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H="1">
            <a:off x="435769" y="5676460"/>
            <a:ext cx="1125308" cy="0"/>
          </a:xfrm>
          <a:prstGeom prst="line">
            <a:avLst/>
          </a:prstGeom>
          <a:ln>
            <a:solidFill>
              <a:srgbClr val="FF820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endCxn id="33" idx="3"/>
          </p:cNvCxnSpPr>
          <p:nvPr/>
        </p:nvCxnSpPr>
        <p:spPr>
          <a:xfrm flipH="1">
            <a:off x="8850141" y="5262628"/>
            <a:ext cx="186829" cy="1164995"/>
          </a:xfrm>
          <a:prstGeom prst="straightConnector1">
            <a:avLst/>
          </a:prstGeom>
          <a:ln>
            <a:solidFill>
              <a:srgbClr val="C40F0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368773" y="798725"/>
            <a:ext cx="384607" cy="395967"/>
          </a:xfrm>
          <a:prstGeom prst="rect">
            <a:avLst/>
          </a:prstGeom>
          <a:noFill/>
          <a:ln>
            <a:solidFill>
              <a:srgbClr val="39A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39A739"/>
                </a:solidFill>
              </a:rPr>
              <a:t>-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79734" y="1496017"/>
            <a:ext cx="384607" cy="39596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706741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9655" y="206656"/>
            <a:ext cx="8522776" cy="931271"/>
          </a:xfrm>
        </p:spPr>
        <p:txBody>
          <a:bodyPr>
            <a:normAutofit/>
          </a:bodyPr>
          <a:lstStyle/>
          <a:p>
            <a:r>
              <a:rPr lang="en-US" sz="3600" b="1" dirty="0"/>
              <a:t>Li-ion battery Simulator &amp; its Postprocessor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388" y="2088571"/>
            <a:ext cx="4747956" cy="4254284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5406633" y="2399063"/>
            <a:ext cx="3407591" cy="4120208"/>
            <a:chOff x="5833869" y="1992941"/>
            <a:chExt cx="3217141" cy="4268375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33869" y="1992941"/>
              <a:ext cx="3217141" cy="4268375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880100" y="3435350"/>
              <a:ext cx="412750" cy="76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8513" y="2415534"/>
            <a:ext cx="3006000" cy="360035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9655" y="1308156"/>
            <a:ext cx="7384962" cy="584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Developing the numerical algorithm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Coding simulation &amp; post-processing programs with Python (PyQt5)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A209-9D9F-4360-B47F-B96023C179C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6691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558" y="16507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/>
              <a:t>Properties and Parameters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91358" y="585493"/>
            <a:ext cx="4990405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2060"/>
                </a:solidFill>
              </a:rPr>
              <a:t>- from Doyle and Newman(1996)</a:t>
            </a:r>
            <a:r>
              <a:rPr lang="en-US" sz="2000" i="1" dirty="0"/>
              <a:t> </a:t>
            </a:r>
            <a:br>
              <a:rPr lang="en-US" sz="2000" i="1" dirty="0"/>
            </a:br>
            <a:r>
              <a:rPr lang="en-US" i="1" dirty="0"/>
              <a:t>Journal of the Electrochemical Society, 143(6), 1890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6096000" y="1606451"/>
            <a:ext cx="6025344" cy="4634081"/>
            <a:chOff x="5836456" y="2223919"/>
            <a:chExt cx="6025344" cy="4634081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36456" y="3737429"/>
              <a:ext cx="6025344" cy="3120571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36456" y="2223919"/>
              <a:ext cx="5381742" cy="1395581"/>
            </a:xfrm>
            <a:prstGeom prst="rect">
              <a:avLst/>
            </a:prstGeom>
          </p:spPr>
        </p:pic>
      </p:grp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943" y="1490633"/>
            <a:ext cx="5553415" cy="3440568"/>
          </a:xfrm>
          <a:prstGeom prst="rect">
            <a:avLst/>
          </a:prstGeom>
        </p:spPr>
      </p:pic>
      <p:grpSp>
        <p:nvGrpSpPr>
          <p:cNvPr id="23" name="Group 22"/>
          <p:cNvGrpSpPr/>
          <p:nvPr/>
        </p:nvGrpSpPr>
        <p:grpSpPr>
          <a:xfrm>
            <a:off x="522256" y="5125563"/>
            <a:ext cx="4525164" cy="412549"/>
            <a:chOff x="526467" y="5106322"/>
            <a:chExt cx="4525164" cy="41254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2587815" y="5106322"/>
                  <a:ext cx="2463816" cy="412549"/>
                </a:xfrm>
                <a:prstGeom prst="rect">
                  <a:avLst/>
                </a:prstGeom>
                <a:noFill/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  <m:d>
                          <m:dPr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1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US" sz="11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200"/>
                          <m:t>−0.16 + 1.32 ∗ </m:t>
                        </m:r>
                        <m:r>
                          <m:rPr>
                            <m:nor/>
                          </m:rPr>
                          <a:rPr lang="en-US" sz="1200"/>
                          <m:t>np</m:t>
                        </m:r>
                        <m:r>
                          <m:rPr>
                            <m:nor/>
                          </m:rPr>
                          <a:rPr lang="en-US" sz="1200"/>
                          <m:t>.</m:t>
                        </m:r>
                        <m:r>
                          <m:rPr>
                            <m:nor/>
                          </m:rPr>
                          <a:rPr lang="en-US" sz="1200"/>
                          <m:t>exp</m:t>
                        </m:r>
                        <m:r>
                          <m:rPr>
                            <m:nor/>
                          </m:rPr>
                          <a:rPr lang="en-US" sz="1200"/>
                          <m:t>(−3.0 ∗ </m:t>
                        </m:r>
                        <m:r>
                          <m:rPr>
                            <m:nor/>
                          </m:rPr>
                          <a:rPr lang="en-US" sz="1200"/>
                          <m:t>x</m:t>
                        </m:r>
                        <m:r>
                          <m:rPr>
                            <m:nor/>
                          </m:rPr>
                          <a:rPr lang="en-US" sz="1200"/>
                          <m:t>) </m:t>
                        </m:r>
                      </m:oMath>
                    </m:oMathPara>
                  </a14:m>
                  <a:endParaRPr lang="en-US" sz="120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200"/>
                          <m:t>+ 10.0 ∗ </m:t>
                        </m:r>
                        <m:r>
                          <m:rPr>
                            <m:nor/>
                          </m:rPr>
                          <a:rPr lang="en-US" sz="1200"/>
                          <m:t>np</m:t>
                        </m:r>
                        <m:r>
                          <m:rPr>
                            <m:nor/>
                          </m:rPr>
                          <a:rPr lang="en-US" sz="1200"/>
                          <m:t>.</m:t>
                        </m:r>
                        <m:r>
                          <m:rPr>
                            <m:nor/>
                          </m:rPr>
                          <a:rPr lang="en-US" sz="1200"/>
                          <m:t>exp</m:t>
                        </m:r>
                        <m:r>
                          <m:rPr>
                            <m:nor/>
                          </m:rPr>
                          <a:rPr lang="en-US" sz="1200"/>
                          <m:t>(−2000.0 ∗ </m:t>
                        </m:r>
                        <m:r>
                          <m:rPr>
                            <m:nor/>
                          </m:rPr>
                          <a:rPr lang="en-US" sz="1200"/>
                          <m:t>x</m:t>
                        </m:r>
                        <m:r>
                          <m:rPr>
                            <m:nor/>
                          </m:rPr>
                          <a:rPr lang="en-US" sz="1200"/>
                          <m:t>)</m:t>
                        </m:r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7815" y="5106322"/>
                  <a:ext cx="2463816" cy="412549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493" r="-246" b="-10145"/>
                  </a:stretch>
                </a:blipFill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26467" y="5106322"/>
              <a:ext cx="1921500" cy="374400"/>
            </a:xfrm>
            <a:prstGeom prst="rect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</p:pic>
      </p:grpSp>
      <p:grpSp>
        <p:nvGrpSpPr>
          <p:cNvPr id="24" name="Group 23"/>
          <p:cNvGrpSpPr/>
          <p:nvPr/>
        </p:nvGrpSpPr>
        <p:grpSpPr>
          <a:xfrm>
            <a:off x="522256" y="5876278"/>
            <a:ext cx="5433896" cy="754787"/>
            <a:chOff x="522256" y="5876278"/>
            <a:chExt cx="5433896" cy="7547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2552104" y="5882462"/>
                  <a:ext cx="3404048" cy="748603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5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50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105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  <m:d>
                          <m:dPr>
                            <m:ctrlPr>
                              <a:rPr lang="en-US" sz="105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05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sz="105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050" b="0" i="0" smtClean="0"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m:rPr>
                            <m:nor/>
                          </m:rPr>
                          <a:rPr lang="en-US" sz="1050"/>
                          <m:t>4.1983 + 0.056566 ∗ </m:t>
                        </m:r>
                        <m:r>
                          <m:rPr>
                            <m:nor/>
                          </m:rPr>
                          <a:rPr lang="en-US" sz="1050"/>
                          <m:t>tanh</m:t>
                        </m:r>
                        <m:r>
                          <m:rPr>
                            <m:nor/>
                          </m:rPr>
                          <a:rPr lang="en-US" sz="1050"/>
                          <m:t>(−14.5546 ∗ </m:t>
                        </m:r>
                        <m:r>
                          <m:rPr>
                            <m:nor/>
                          </m:rPr>
                          <a:rPr lang="en-US" sz="1050"/>
                          <m:t>y</m:t>
                        </m:r>
                        <m:r>
                          <m:rPr>
                            <m:nor/>
                          </m:rPr>
                          <a:rPr lang="en-US" sz="1050"/>
                          <m:t> + 8.60942) </m:t>
                        </m:r>
                      </m:oMath>
                    </m:oMathPara>
                  </a14:m>
                  <a:endParaRPr lang="en-US" sz="1050" dirty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050"/>
                          <m:t>−</m:t>
                        </m:r>
                        <m:r>
                          <m:rPr>
                            <m:nor/>
                          </m:rPr>
                          <a:rPr lang="en-US" sz="1050" b="0" i="0" smtClean="0"/>
                          <m:t>   </m:t>
                        </m:r>
                        <m:r>
                          <m:rPr>
                            <m:nor/>
                          </m:rPr>
                          <a:rPr lang="en-US" sz="1050"/>
                          <m:t>0.0275479∗</m:t>
                        </m:r>
                        <m:r>
                          <m:rPr>
                            <m:nor/>
                          </m:rPr>
                          <a:rPr lang="en-US" sz="1050" smtClean="0"/>
                          <m:t>(</m:t>
                        </m:r>
                        <m:sSup>
                          <m:sSupPr>
                            <m:ctrlPr>
                              <a:rPr lang="en-US" sz="105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1050"/>
                              <m:t>(1.0 − </m:t>
                            </m:r>
                            <m:r>
                              <m:rPr>
                                <m:nor/>
                              </m:rPr>
                              <a:rPr lang="en-US" sz="1050"/>
                              <m:t>y</m:t>
                            </m:r>
                            <m:r>
                              <m:rPr>
                                <m:nor/>
                              </m:rPr>
                              <a:rPr lang="en-US" sz="1050"/>
                              <m:t>)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sz="1050"/>
                              <m:t>−0.492465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sz="1050"/>
                          <m:t> − 1.90)</m:t>
                        </m:r>
                        <m:r>
                          <m:rPr>
                            <m:nor/>
                          </m:rPr>
                          <a:rPr lang="en-US" sz="1050" b="0" i="0" smtClean="0"/>
                          <m:t> −</m:t>
                        </m:r>
                        <m:r>
                          <m:rPr>
                            <m:nor/>
                          </m:rPr>
                          <a:rPr lang="en-US" sz="1050"/>
                          <m:t> 0.157123 ∗ </m:t>
                        </m:r>
                        <m:r>
                          <m:rPr>
                            <m:nor/>
                          </m:rPr>
                          <a:rPr lang="en-US" sz="1050"/>
                          <m:t>exp</m:t>
                        </m:r>
                        <m:r>
                          <m:rPr>
                            <m:nor/>
                          </m:rPr>
                          <a:rPr lang="en-US" sz="1050"/>
                          <m:t>(−0.04738 ∗</m:t>
                        </m:r>
                        <m:sSup>
                          <m:sSupPr>
                            <m:ctrlPr>
                              <a:rPr lang="en-US" sz="105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05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105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sz="1050"/>
                          <m:t> ) </m:t>
                        </m:r>
                      </m:oMath>
                    </m:oMathPara>
                  </a14:m>
                  <a:endParaRPr lang="en-US" sz="1050" dirty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050"/>
                          <m:t>+ 0.810239 ∗ </m:t>
                        </m:r>
                        <m:r>
                          <m:rPr>
                            <m:nor/>
                          </m:rPr>
                          <a:rPr lang="en-US" sz="1050"/>
                          <m:t>exp</m:t>
                        </m:r>
                        <m:r>
                          <m:rPr>
                            <m:nor/>
                          </m:rPr>
                          <a:rPr lang="en-US" sz="1050"/>
                          <m:t>(−40 ∗ (</m:t>
                        </m:r>
                        <m:r>
                          <m:rPr>
                            <m:nor/>
                          </m:rPr>
                          <a:rPr lang="en-US" sz="1050"/>
                          <m:t>y</m:t>
                        </m:r>
                        <m:r>
                          <m:rPr>
                            <m:nor/>
                          </m:rPr>
                          <a:rPr lang="en-US" sz="1050"/>
                          <m:t> − 0.133875))</m:t>
                        </m:r>
                      </m:oMath>
                    </m:oMathPara>
                  </a14:m>
                  <a:endParaRPr lang="en-US" sz="1050" dirty="0"/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52104" y="5882462"/>
                  <a:ext cx="3404048" cy="748603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b="-4800"/>
                  </a:stretch>
                </a:blipFill>
                <a:ln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22256" y="5876278"/>
              <a:ext cx="1890000" cy="265200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</p:grpSp>
      <p:sp>
        <p:nvSpPr>
          <p:cNvPr id="25" name="Slide Number Placeholder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A209-9D9F-4360-B47F-B96023C179C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1381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91457" y="304966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/>
              <a:t>Comparison Simulation Results with Experiments</a:t>
            </a:r>
            <a:endParaRPr lang="en-US" sz="3600" dirty="0"/>
          </a:p>
        </p:txBody>
      </p:sp>
      <p:sp>
        <p:nvSpPr>
          <p:cNvPr id="10" name="TextBox 9"/>
          <p:cNvSpPr txBox="1"/>
          <p:nvPr/>
        </p:nvSpPr>
        <p:spPr>
          <a:xfrm>
            <a:off x="2246755" y="5904027"/>
            <a:ext cx="84377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* exp. data from  </a:t>
            </a:r>
            <a:r>
              <a:rPr lang="en-US" sz="1400" i="1" dirty="0"/>
              <a:t>Doyle, M., &amp; Newman, J. (1996). Comparison of the modeling predictions with experimental data from plastic lithium ion cells. Journal of the Electrochemical Society, 143(6), 1890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996347" y="1644093"/>
            <a:ext cx="5099653" cy="4025474"/>
            <a:chOff x="996347" y="1644093"/>
            <a:chExt cx="5099653" cy="4025474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6347" y="1847370"/>
              <a:ext cx="4806270" cy="3822197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4957547" y="1644093"/>
              <a:ext cx="113845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1C = 17.5 A/m</a:t>
              </a:r>
              <a:r>
                <a:rPr lang="en-US" sz="1200" b="1" baseline="30000" dirty="0"/>
                <a:t>2</a:t>
              </a:r>
            </a:p>
          </p:txBody>
        </p:sp>
      </p:grp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A209-9D9F-4360-B47F-B96023C179CA}" type="slidenum">
              <a:rPr lang="en-US" smtClean="0"/>
              <a:t>14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7737475" y="3397946"/>
            <a:ext cx="3773713" cy="7386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Simulating conducted with this model shows a close agreement with test data Doyle &amp; Newman got from Li-Mn</a:t>
            </a:r>
            <a:r>
              <a:rPr lang="en-US" sz="1400" baseline="-25000" dirty="0"/>
              <a:t>2</a:t>
            </a:r>
            <a:r>
              <a:rPr lang="en-US" sz="1400" dirty="0"/>
              <a:t>O</a:t>
            </a:r>
            <a:r>
              <a:rPr lang="en-US" sz="1400" baseline="-25000" dirty="0"/>
              <a:t>4</a:t>
            </a:r>
            <a:r>
              <a:rPr lang="en-US" sz="1400" dirty="0"/>
              <a:t> battery cell</a:t>
            </a:r>
          </a:p>
        </p:txBody>
      </p:sp>
    </p:spTree>
    <p:extLst>
      <p:ext uri="{BB962C8B-B14F-4D97-AF65-F5344CB8AC3E}">
        <p14:creationId xmlns:p14="http://schemas.microsoft.com/office/powerpoint/2010/main" val="26280359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/>
          <p:nvPr/>
        </p:nvSpPr>
        <p:spPr>
          <a:xfrm>
            <a:off x="6081344" y="742949"/>
            <a:ext cx="1957755" cy="1574403"/>
          </a:xfrm>
          <a:prstGeom prst="rect">
            <a:avLst/>
          </a:prstGeom>
          <a:solidFill>
            <a:schemeClr val="accent2">
              <a:lumMod val="20000"/>
              <a:lumOff val="8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9326340" y="698208"/>
            <a:ext cx="2135410" cy="1540144"/>
          </a:xfrm>
          <a:prstGeom prst="rect">
            <a:avLst/>
          </a:prstGeom>
          <a:solidFill>
            <a:srgbClr val="ECF1F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13500" y="398354"/>
            <a:ext cx="4356713" cy="1325563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Potential Distribution in Discharging</a:t>
            </a:r>
            <a:endParaRPr lang="en-US" sz="4000" dirty="0"/>
          </a:p>
        </p:txBody>
      </p:sp>
      <p:sp>
        <p:nvSpPr>
          <p:cNvPr id="18" name="TextBox 17"/>
          <p:cNvSpPr txBox="1"/>
          <p:nvPr/>
        </p:nvSpPr>
        <p:spPr>
          <a:xfrm>
            <a:off x="3322182" y="5918186"/>
            <a:ext cx="1467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latin typeface="Arial Narrow" panose="020B0606020202030204" pitchFamily="34" charset="0"/>
              </a:rPr>
              <a:t>100% </a:t>
            </a:r>
            <a:r>
              <a:rPr lang="en-US" sz="1400" i="1" dirty="0">
                <a:latin typeface="Arial Narrow" panose="020B0606020202030204" pitchFamily="34" charset="0"/>
                <a:sym typeface="Symbol" panose="05050102010706020507" pitchFamily="18" charset="2"/>
              </a:rPr>
              <a:t></a:t>
            </a:r>
            <a:r>
              <a:rPr lang="en-US" sz="1400" i="1" dirty="0">
                <a:latin typeface="Arial Narrow" panose="020B0606020202030204" pitchFamily="34" charset="0"/>
              </a:rPr>
              <a:t>17.5Ah/m</a:t>
            </a:r>
            <a:r>
              <a:rPr lang="en-US" sz="1400" i="1" baseline="30000" dirty="0">
                <a:latin typeface="Arial Narrow" panose="020B0606020202030204" pitchFamily="34" charset="0"/>
              </a:rPr>
              <a:t>2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637" y="2679700"/>
            <a:ext cx="4445613" cy="3488798"/>
          </a:xfrm>
          <a:prstGeom prst="rect">
            <a:avLst/>
          </a:prstGeom>
        </p:spPr>
      </p:pic>
      <p:sp>
        <p:nvSpPr>
          <p:cNvPr id="22" name="Oval 21"/>
          <p:cNvSpPr/>
          <p:nvPr/>
        </p:nvSpPr>
        <p:spPr>
          <a:xfrm>
            <a:off x="3818153" y="4319270"/>
            <a:ext cx="88900" cy="889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3114887" y="3912235"/>
            <a:ext cx="88900" cy="889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2415117" y="3655060"/>
            <a:ext cx="88900" cy="889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1712807" y="3485674"/>
            <a:ext cx="88900" cy="889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/>
          <p:cNvGrpSpPr/>
          <p:nvPr/>
        </p:nvGrpSpPr>
        <p:grpSpPr>
          <a:xfrm>
            <a:off x="6018917" y="2617567"/>
            <a:ext cx="5215634" cy="3520212"/>
            <a:chOff x="6018917" y="3138267"/>
            <a:chExt cx="5215634" cy="3520212"/>
          </a:xfrm>
        </p:grpSpPr>
        <p:sp>
          <p:nvSpPr>
            <p:cNvPr id="47" name="Rectangle 46"/>
            <p:cNvSpPr/>
            <p:nvPr/>
          </p:nvSpPr>
          <p:spPr>
            <a:xfrm>
              <a:off x="6766902" y="5630133"/>
              <a:ext cx="4152934" cy="576106"/>
            </a:xfrm>
            <a:prstGeom prst="rect">
              <a:avLst/>
            </a:prstGeom>
            <a:solidFill>
              <a:srgbClr val="E2F0D9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6766902" y="3246345"/>
              <a:ext cx="1284482" cy="2959894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5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8694762" y="3246345"/>
              <a:ext cx="2225074" cy="2959894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5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18917" y="3138267"/>
              <a:ext cx="5215634" cy="3520212"/>
            </a:xfrm>
            <a:prstGeom prst="rect">
              <a:avLst/>
            </a:prstGeom>
          </p:spPr>
        </p:pic>
        <p:grpSp>
          <p:nvGrpSpPr>
            <p:cNvPr id="38" name="Group 37"/>
            <p:cNvGrpSpPr/>
            <p:nvPr/>
          </p:nvGrpSpPr>
          <p:grpSpPr>
            <a:xfrm>
              <a:off x="7433402" y="4276384"/>
              <a:ext cx="323710" cy="323710"/>
              <a:chOff x="1282471" y="1885950"/>
              <a:chExt cx="400050" cy="400050"/>
            </a:xfrm>
          </p:grpSpPr>
          <p:sp>
            <p:nvSpPr>
              <p:cNvPr id="36" name="TextBox 35"/>
              <p:cNvSpPr txBox="1"/>
              <p:nvPr/>
            </p:nvSpPr>
            <p:spPr>
              <a:xfrm>
                <a:off x="1282471" y="1955170"/>
                <a:ext cx="322524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100" dirty="0"/>
                  <a:t>Li</a:t>
                </a:r>
                <a:r>
                  <a:rPr lang="en-US" sz="1100" baseline="30000" dirty="0"/>
                  <a:t>+</a:t>
                </a:r>
              </a:p>
            </p:txBody>
          </p:sp>
          <p:sp>
            <p:nvSpPr>
              <p:cNvPr id="37" name="Oval 36"/>
              <p:cNvSpPr/>
              <p:nvPr/>
            </p:nvSpPr>
            <p:spPr>
              <a:xfrm>
                <a:off x="1282471" y="1885950"/>
                <a:ext cx="400050" cy="40005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1" name="Right Arrow 40"/>
            <p:cNvSpPr/>
            <p:nvPr/>
          </p:nvSpPr>
          <p:spPr>
            <a:xfrm>
              <a:off x="7796154" y="4379582"/>
              <a:ext cx="1661160" cy="137160"/>
            </a:xfrm>
            <a:prstGeom prst="rightArrow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5415811" y="685068"/>
            <a:ext cx="2777629" cy="1874718"/>
            <a:chOff x="5415811" y="926368"/>
            <a:chExt cx="2777629" cy="1874718"/>
          </a:xfrm>
        </p:grpSpPr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5811" y="926368"/>
              <a:ext cx="2777629" cy="1874718"/>
            </a:xfrm>
            <a:prstGeom prst="rect">
              <a:avLst/>
            </a:prstGeom>
            <a:noFill/>
          </p:spPr>
        </p:pic>
        <p:sp>
          <p:nvSpPr>
            <p:cNvPr id="45" name="TextBox 44"/>
            <p:cNvSpPr txBox="1"/>
            <p:nvPr/>
          </p:nvSpPr>
          <p:spPr>
            <a:xfrm>
              <a:off x="6856750" y="1114749"/>
              <a:ext cx="110068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Neg. Electrode</a:t>
              </a: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8739038" y="550799"/>
            <a:ext cx="2904284" cy="1984375"/>
            <a:chOff x="8739038" y="792099"/>
            <a:chExt cx="2904284" cy="1984375"/>
          </a:xfrm>
        </p:grpSpPr>
        <p:pic>
          <p:nvPicPr>
            <p:cNvPr id="33" name="Picture 32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39038" y="792099"/>
              <a:ext cx="2904284" cy="1984375"/>
            </a:xfrm>
            <a:prstGeom prst="rect">
              <a:avLst/>
            </a:prstGeom>
          </p:spPr>
        </p:pic>
        <p:sp>
          <p:nvSpPr>
            <p:cNvPr id="46" name="TextBox 45"/>
            <p:cNvSpPr txBox="1"/>
            <p:nvPr/>
          </p:nvSpPr>
          <p:spPr>
            <a:xfrm>
              <a:off x="9417070" y="2013909"/>
              <a:ext cx="10719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Pos. Electrode</a:t>
              </a:r>
            </a:p>
          </p:txBody>
        </p:sp>
      </p:grpSp>
      <p:cxnSp>
        <p:nvCxnSpPr>
          <p:cNvPr id="55" name="Straight Arrow Connector 54"/>
          <p:cNvCxnSpPr>
            <a:stCxn id="70" idx="0"/>
          </p:cNvCxnSpPr>
          <p:nvPr/>
        </p:nvCxnSpPr>
        <p:spPr>
          <a:xfrm flipV="1">
            <a:off x="6869134" y="2559786"/>
            <a:ext cx="0" cy="23022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V="1">
            <a:off x="10753074" y="2468768"/>
            <a:ext cx="0" cy="2609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Slide Number Placeholder 6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A209-9D9F-4360-B47F-B96023C179CA}" type="slidenum">
              <a:rPr lang="en-US" smtClean="0"/>
              <a:t>15</a:t>
            </a:fld>
            <a:endParaRPr lang="en-US"/>
          </a:p>
        </p:txBody>
      </p:sp>
      <p:sp>
        <p:nvSpPr>
          <p:cNvPr id="62" name="TextBox 61"/>
          <p:cNvSpPr txBox="1"/>
          <p:nvPr/>
        </p:nvSpPr>
        <p:spPr>
          <a:xfrm>
            <a:off x="1514676" y="3231758"/>
            <a:ext cx="60144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D72728"/>
                </a:solidFill>
              </a:rPr>
              <a:t>1C-20%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224132" y="3431579"/>
            <a:ext cx="60144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0070C0"/>
                </a:solidFill>
              </a:rPr>
              <a:t>1C-40%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46922" y="3660680"/>
            <a:ext cx="60144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FF820E"/>
                </a:solidFill>
              </a:rPr>
              <a:t>1C-60%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43051" y="4065354"/>
            <a:ext cx="60144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2CA02C"/>
                </a:solidFill>
              </a:rPr>
              <a:t>1C-80%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36709" y="3119518"/>
            <a:ext cx="5806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2CA02C"/>
                </a:solidFill>
              </a:rPr>
              <a:t>1C-80%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149926" y="2940787"/>
            <a:ext cx="58541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FF820E"/>
                </a:solidFill>
              </a:rPr>
              <a:t>1C-60</a:t>
            </a:r>
            <a:r>
              <a:rPr lang="en-US" sz="1050" b="1" dirty="0">
                <a:solidFill>
                  <a:srgbClr val="FF820E"/>
                </a:solidFill>
              </a:rPr>
              <a:t>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55223" y="2816088"/>
            <a:ext cx="5806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chemeClr val="accent5"/>
                </a:solidFill>
              </a:rPr>
              <a:t>1C-40%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63143" y="2703992"/>
            <a:ext cx="5806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D62728"/>
                </a:solidFill>
              </a:rPr>
              <a:t>1C-20%</a:t>
            </a:r>
          </a:p>
        </p:txBody>
      </p:sp>
      <p:sp>
        <p:nvSpPr>
          <p:cNvPr id="70" name="Oval 69"/>
          <p:cNvSpPr/>
          <p:nvPr/>
        </p:nvSpPr>
        <p:spPr>
          <a:xfrm>
            <a:off x="6846274" y="4862030"/>
            <a:ext cx="45719" cy="18098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/>
          <p:cNvSpPr/>
          <p:nvPr/>
        </p:nvSpPr>
        <p:spPr>
          <a:xfrm>
            <a:off x="10730215" y="2729891"/>
            <a:ext cx="45719" cy="18098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/>
          <p:cNvSpPr txBox="1"/>
          <p:nvPr/>
        </p:nvSpPr>
        <p:spPr>
          <a:xfrm>
            <a:off x="7652583" y="6088638"/>
            <a:ext cx="2957969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Potential evolution in the cell </a:t>
            </a:r>
            <a:br>
              <a:rPr lang="en-US" dirty="0"/>
            </a:br>
            <a:r>
              <a:rPr lang="en-US" dirty="0"/>
              <a:t>in discharging at 1C rate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7766318" y="1964015"/>
                <a:ext cx="482824" cy="20486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0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7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𝑒𝑓𝑓</m:t>
                          </m:r>
                        </m:sub>
                      </m:sSub>
                      <m:f>
                        <m:fPr>
                          <m:ctrlPr>
                            <a:rPr lang="en-US" sz="7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7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7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num>
                        <m:den>
                          <m:r>
                            <a:rPr lang="en-US" sz="7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7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sz="7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7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6318" y="1964015"/>
                <a:ext cx="482824" cy="204864"/>
              </a:xfrm>
              <a:prstGeom prst="rect">
                <a:avLst/>
              </a:prstGeom>
              <a:blipFill rotWithShape="0">
                <a:blip r:embed="rId6"/>
                <a:stretch>
                  <a:fillRect l="-2532" t="-2941" r="-5063" b="-14706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11216370" y="1679829"/>
                <a:ext cx="731739" cy="23410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8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𝑒𝑓𝑓</m:t>
                          </m:r>
                        </m:sub>
                      </m:sSub>
                      <m:f>
                        <m:fPr>
                          <m:ctrlPr>
                            <a:rPr lang="en-US" sz="8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8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8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num>
                        <m:den>
                          <m:r>
                            <a:rPr lang="en-US" sz="8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8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sz="8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8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sz="8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8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8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en-US" sz="8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en-US" sz="8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6370" y="1679829"/>
                <a:ext cx="731739" cy="234103"/>
              </a:xfrm>
              <a:prstGeom prst="rect">
                <a:avLst/>
              </a:prstGeom>
              <a:blipFill rotWithShape="0">
                <a:blip r:embed="rId7"/>
                <a:stretch>
                  <a:fillRect l="-2500" t="-5263" r="-3333" b="-15789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/>
              <p:cNvSpPr txBox="1"/>
              <p:nvPr/>
            </p:nvSpPr>
            <p:spPr>
              <a:xfrm>
                <a:off x="5875973" y="567153"/>
                <a:ext cx="356188" cy="15388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sz="10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0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79" name="TextBox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5973" y="567153"/>
                <a:ext cx="356188" cy="153888"/>
              </a:xfrm>
              <a:prstGeom prst="rect">
                <a:avLst/>
              </a:prstGeom>
              <a:blipFill rotWithShape="0">
                <a:blip r:embed="rId8"/>
                <a:stretch>
                  <a:fillRect l="-8621" r="-8621" b="-28000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Oval 80"/>
          <p:cNvSpPr/>
          <p:nvPr/>
        </p:nvSpPr>
        <p:spPr>
          <a:xfrm>
            <a:off x="8014426" y="2215492"/>
            <a:ext cx="45720" cy="457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/>
          <p:cNvSpPr/>
          <p:nvPr/>
        </p:nvSpPr>
        <p:spPr>
          <a:xfrm>
            <a:off x="6054067" y="786765"/>
            <a:ext cx="45720" cy="457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/>
          <p:cNvSpPr/>
          <p:nvPr/>
        </p:nvSpPr>
        <p:spPr>
          <a:xfrm>
            <a:off x="11438890" y="2133237"/>
            <a:ext cx="45720" cy="457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/>
              <p:cNvSpPr txBox="1"/>
              <p:nvPr/>
            </p:nvSpPr>
            <p:spPr>
              <a:xfrm>
                <a:off x="9131568" y="801965"/>
                <a:ext cx="482824" cy="20486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0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7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𝑒𝑓𝑓</m:t>
                          </m:r>
                        </m:sub>
                      </m:sSub>
                      <m:f>
                        <m:fPr>
                          <m:ctrlPr>
                            <a:rPr lang="en-US" sz="7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7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7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num>
                        <m:den>
                          <m:r>
                            <a:rPr lang="en-US" sz="7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7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sz="7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7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1568" y="801965"/>
                <a:ext cx="482824" cy="204864"/>
              </a:xfrm>
              <a:prstGeom prst="rect">
                <a:avLst/>
              </a:prstGeom>
              <a:blipFill rotWithShape="0">
                <a:blip r:embed="rId9"/>
                <a:stretch>
                  <a:fillRect l="-2532" t="-3030" r="-3797" b="-15152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Oval 84"/>
          <p:cNvSpPr/>
          <p:nvPr/>
        </p:nvSpPr>
        <p:spPr>
          <a:xfrm>
            <a:off x="9329200" y="737909"/>
            <a:ext cx="45720" cy="457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252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602988" y="2498341"/>
            <a:ext cx="4812478" cy="2111760"/>
            <a:chOff x="869688" y="3019041"/>
            <a:chExt cx="4812478" cy="2111760"/>
          </a:xfrm>
        </p:grpSpPr>
        <p:sp>
          <p:nvSpPr>
            <p:cNvPr id="7" name="Rectangle 6"/>
            <p:cNvSpPr/>
            <p:nvPr/>
          </p:nvSpPr>
          <p:spPr>
            <a:xfrm>
              <a:off x="1670836" y="3136900"/>
              <a:ext cx="3724881" cy="1676400"/>
            </a:xfrm>
            <a:prstGeom prst="rect">
              <a:avLst/>
            </a:prstGeom>
            <a:solidFill>
              <a:srgbClr val="E2F0D9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9688" y="3019041"/>
              <a:ext cx="4812478" cy="2111760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404136" y="4727960"/>
            <a:ext cx="2891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1C discharging at DOD = 20%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0165" y="2234729"/>
            <a:ext cx="5585097" cy="301092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36124" y="5315071"/>
            <a:ext cx="2165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Potential distribution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/>
              <a:t>Potential Distribution in Electrolyte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A209-9D9F-4360-B47F-B96023C179CA}" type="slidenum">
              <a:rPr lang="en-US" smtClean="0"/>
              <a:t>16</a:t>
            </a:fld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8813743" y="3909937"/>
            <a:ext cx="6222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2CA02C"/>
                </a:solidFill>
              </a:rPr>
              <a:t>3C-40%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8935" y="3097443"/>
            <a:ext cx="6222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FF820E"/>
                </a:solidFill>
              </a:rPr>
              <a:t>2C-40%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79239" y="2488897"/>
            <a:ext cx="6222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accent5"/>
                </a:solidFill>
              </a:rPr>
              <a:t>1C-40%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1457" y="4475871"/>
            <a:ext cx="6222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D62728"/>
                </a:solidFill>
              </a:rPr>
              <a:t>4C-40%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1162724" y="2352407"/>
                <a:ext cx="425629" cy="20486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0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7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7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f>
                        <m:fPr>
                          <m:ctrlPr>
                            <a:rPr lang="en-US" sz="7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7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7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num>
                        <m:den>
                          <m:r>
                            <a:rPr lang="en-US" sz="7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7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sz="7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7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724" y="2352407"/>
                <a:ext cx="425629" cy="204864"/>
              </a:xfrm>
              <a:prstGeom prst="rect">
                <a:avLst/>
              </a:prstGeom>
              <a:blipFill rotWithShape="0">
                <a:blip r:embed="rId4"/>
                <a:stretch>
                  <a:fillRect l="-2857" t="-3030" r="-4286" b="-15152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Oval 23"/>
          <p:cNvSpPr/>
          <p:nvPr/>
        </p:nvSpPr>
        <p:spPr>
          <a:xfrm>
            <a:off x="1410832" y="2631959"/>
            <a:ext cx="45720" cy="457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4834455" y="3909937"/>
                <a:ext cx="425629" cy="20486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0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7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7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f>
                        <m:fPr>
                          <m:ctrlPr>
                            <a:rPr lang="en-US" sz="7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7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7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num>
                        <m:den>
                          <m:r>
                            <a:rPr lang="en-US" sz="7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7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sz="7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7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4455" y="3909937"/>
                <a:ext cx="425629" cy="204864"/>
              </a:xfrm>
              <a:prstGeom prst="rect">
                <a:avLst/>
              </a:prstGeom>
              <a:blipFill rotWithShape="0">
                <a:blip r:embed="rId5"/>
                <a:stretch>
                  <a:fillRect l="-2857" t="-2941" r="-5714" b="-14706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Oval 25"/>
          <p:cNvSpPr/>
          <p:nvPr/>
        </p:nvSpPr>
        <p:spPr>
          <a:xfrm>
            <a:off x="5119794" y="4147241"/>
            <a:ext cx="45720" cy="457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3751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373949"/>
            <a:ext cx="7772400" cy="618783"/>
          </a:xfrm>
        </p:spPr>
        <p:txBody>
          <a:bodyPr>
            <a:normAutofit/>
          </a:bodyPr>
          <a:lstStyle/>
          <a:p>
            <a:r>
              <a:rPr lang="en-US" sz="3200" b="1" dirty="0"/>
              <a:t>Li concentration distribution  ( 1C discharging)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1890" y="3138926"/>
            <a:ext cx="4714910" cy="32101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19813" y="6181616"/>
            <a:ext cx="3852853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Li concentration distribution in Electrode Particles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10563" y="6332051"/>
            <a:ext cx="3478306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Li concentration in Electrolyte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20063" y="4482392"/>
            <a:ext cx="7264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DOD= 0%</a:t>
            </a:r>
          </a:p>
        </p:txBody>
      </p:sp>
      <p:cxnSp>
        <p:nvCxnSpPr>
          <p:cNvPr id="34" name="Straight Arrow Connector 33"/>
          <p:cNvCxnSpPr/>
          <p:nvPr/>
        </p:nvCxnSpPr>
        <p:spPr>
          <a:xfrm flipH="1">
            <a:off x="7546544" y="3797061"/>
            <a:ext cx="278280" cy="439271"/>
          </a:xfrm>
          <a:prstGeom prst="straightConnector1">
            <a:avLst/>
          </a:prstGeom>
          <a:solidFill>
            <a:schemeClr val="bg1"/>
          </a:solidFill>
          <a:ln w="12700">
            <a:solidFill>
              <a:srgbClr val="FF861A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flipH="1">
            <a:off x="7447853" y="3662181"/>
            <a:ext cx="278280" cy="439271"/>
          </a:xfrm>
          <a:prstGeom prst="straightConnector1">
            <a:avLst/>
          </a:prstGeom>
          <a:solidFill>
            <a:schemeClr val="bg1"/>
          </a:solidFill>
          <a:ln w="12700">
            <a:solidFill>
              <a:srgbClr val="3BA73B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7349162" y="3613319"/>
            <a:ext cx="197382" cy="318621"/>
          </a:xfrm>
          <a:prstGeom prst="straightConnector1">
            <a:avLst/>
          </a:prstGeom>
          <a:solidFill>
            <a:schemeClr val="bg1"/>
          </a:solidFill>
          <a:ln w="12700">
            <a:solidFill>
              <a:srgbClr val="D72728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7255032" y="3508021"/>
            <a:ext cx="138020" cy="190500"/>
          </a:xfrm>
          <a:prstGeom prst="straightConnector1">
            <a:avLst/>
          </a:prstGeom>
          <a:solidFill>
            <a:schemeClr val="bg1"/>
          </a:solidFill>
          <a:ln w="12700">
            <a:solidFill>
              <a:srgbClr val="B798D3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903883" y="3628952"/>
            <a:ext cx="4299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80%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10563" y="3842312"/>
            <a:ext cx="4299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60%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79143" y="4009952"/>
            <a:ext cx="4299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40%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93443" y="4177592"/>
            <a:ext cx="4299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20%</a:t>
            </a:r>
          </a:p>
        </p:txBody>
      </p:sp>
      <p:grpSp>
        <p:nvGrpSpPr>
          <p:cNvPr id="65" name="Group 64"/>
          <p:cNvGrpSpPr/>
          <p:nvPr/>
        </p:nvGrpSpPr>
        <p:grpSpPr>
          <a:xfrm>
            <a:off x="640520" y="2890270"/>
            <a:ext cx="4711409" cy="3208423"/>
            <a:chOff x="640520" y="2890270"/>
            <a:chExt cx="4711409" cy="3208423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520" y="2890925"/>
              <a:ext cx="4711409" cy="3207768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1793359" y="2890270"/>
              <a:ext cx="35779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i="1" dirty="0"/>
                <a:t>0%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721223" y="3398501"/>
              <a:ext cx="42992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i="1" dirty="0"/>
                <a:t>20%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721223" y="3891559"/>
              <a:ext cx="42992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i="1" dirty="0"/>
                <a:t>40%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721223" y="4357724"/>
              <a:ext cx="42992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i="1" dirty="0"/>
                <a:t>60%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365541" y="4810441"/>
              <a:ext cx="79861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i="1" dirty="0"/>
                <a:t>DOD =80%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702423" y="4375654"/>
              <a:ext cx="42992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i="1" dirty="0"/>
                <a:t>20%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702423" y="3936384"/>
              <a:ext cx="42992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i="1" dirty="0"/>
                <a:t>40%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702423" y="3497113"/>
              <a:ext cx="42992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i="1" dirty="0"/>
                <a:t>60%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702423" y="3084737"/>
              <a:ext cx="42992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i="1" dirty="0"/>
                <a:t>80%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702423" y="4741496"/>
              <a:ext cx="35779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i="1" dirty="0"/>
                <a:t>0%</a:t>
              </a:r>
            </a:p>
          </p:txBody>
        </p:sp>
      </p:grpSp>
      <p:sp>
        <p:nvSpPr>
          <p:cNvPr id="66" name="Slide Number Placeholder 6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A209-9D9F-4360-B47F-B96023C179CA}" type="slidenum">
              <a:rPr lang="en-US" smtClean="0"/>
              <a:t>17</a:t>
            </a:fld>
            <a:endParaRPr lang="en-US"/>
          </a:p>
        </p:txBody>
      </p:sp>
      <p:sp>
        <p:nvSpPr>
          <p:cNvPr id="67" name="TextBox 66"/>
          <p:cNvSpPr txBox="1"/>
          <p:nvPr/>
        </p:nvSpPr>
        <p:spPr>
          <a:xfrm>
            <a:off x="3067050" y="2222699"/>
            <a:ext cx="1963106" cy="70788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) Electrode Particle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1000" baseline="-250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= 175 </a:t>
            </a:r>
            <a:r>
              <a:rPr lang="el-GR" sz="1000" dirty="0"/>
              <a:t>μ</a:t>
            </a:r>
            <a:r>
              <a:rPr lang="en-US" sz="1000" dirty="0"/>
              <a:t>m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1000" baseline="-25000" dirty="0"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= 8.5 </a:t>
            </a:r>
            <a:r>
              <a:rPr lang="el-GR" sz="1000" dirty="0"/>
              <a:t>μ</a:t>
            </a:r>
            <a:r>
              <a:rPr lang="en-US" sz="1000" dirty="0"/>
              <a:t>m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1000" baseline="-25000" dirty="0"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= 1.0E-13 m</a:t>
            </a:r>
            <a:r>
              <a:rPr lang="en-US" sz="10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/sec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40966" y="2237815"/>
            <a:ext cx="1478434" cy="7078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(-)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Electrode Particle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1000" baseline="-250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= 100 </a:t>
            </a:r>
            <a:r>
              <a:rPr lang="el-GR" sz="1000" dirty="0"/>
              <a:t>μ</a:t>
            </a:r>
            <a:r>
              <a:rPr lang="en-US" sz="1000" dirty="0"/>
              <a:t>m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1000" baseline="-250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= 12.5 </a:t>
            </a:r>
            <a:r>
              <a:rPr lang="el-GR" sz="1000" dirty="0"/>
              <a:t>μ</a:t>
            </a:r>
            <a:r>
              <a:rPr lang="en-US" sz="1000" dirty="0"/>
              <a:t>m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1000" baseline="-250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= 3.9E-14 m</a:t>
            </a:r>
            <a:r>
              <a:rPr lang="en-US" sz="10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/sec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340967" y="1915907"/>
            <a:ext cx="3689190" cy="24622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171450" indent="-171450" algn="ctr">
              <a:buFont typeface="Wingdings" panose="05000000000000000000" pitchFamily="2" charset="2"/>
              <a:buChar char="§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1000" baseline="-25000" dirty="0">
                <a:latin typeface="Arial" panose="020B0604020202020204" pitchFamily="34" charset="0"/>
                <a:cs typeface="Arial" panose="020B0604020202020204" pitchFamily="34" charset="0"/>
              </a:rPr>
              <a:t>el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= 7.5E-11 m</a:t>
            </a:r>
            <a:r>
              <a:rPr lang="en-US" sz="10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/sec  in Electrolyte</a:t>
            </a:r>
          </a:p>
        </p:txBody>
      </p:sp>
      <p:sp>
        <p:nvSpPr>
          <p:cNvPr id="19" name="Oval 18"/>
          <p:cNvSpPr/>
          <p:nvPr/>
        </p:nvSpPr>
        <p:spPr>
          <a:xfrm>
            <a:off x="2742874" y="3989897"/>
            <a:ext cx="249306" cy="26015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2844667" y="4108852"/>
            <a:ext cx="45720" cy="45720"/>
          </a:xfrm>
          <a:prstGeom prst="ellipse">
            <a:avLst/>
          </a:prstGeom>
          <a:solidFill>
            <a:schemeClr val="tx1"/>
          </a:solidFill>
          <a:ln w="6350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">
                <a:solidFill>
                  <a:schemeClr val="tx1"/>
                </a:solidFill>
                <a:prstDash val="lgDash"/>
              </a:ln>
              <a:noFill/>
            </a:endParaRPr>
          </a:p>
        </p:txBody>
      </p:sp>
      <p:cxnSp>
        <p:nvCxnSpPr>
          <p:cNvPr id="76" name="Straight Arrow Connector 75"/>
          <p:cNvCxnSpPr/>
          <p:nvPr/>
        </p:nvCxnSpPr>
        <p:spPr>
          <a:xfrm flipV="1">
            <a:off x="2867526" y="3989897"/>
            <a:ext cx="0" cy="123361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>
            <a:off x="2410707" y="4752380"/>
            <a:ext cx="0" cy="433983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>
            <a:off x="2425576" y="4986565"/>
            <a:ext cx="546765" cy="356357"/>
          </a:xfrm>
          <a:prstGeom prst="straightConnector1">
            <a:avLst/>
          </a:prstGeom>
          <a:ln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2842646" y="5079902"/>
            <a:ext cx="344702" cy="34470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2" name="Straight Connector 91"/>
          <p:cNvCxnSpPr/>
          <p:nvPr/>
        </p:nvCxnSpPr>
        <p:spPr>
          <a:xfrm>
            <a:off x="2520393" y="4744156"/>
            <a:ext cx="222481" cy="0"/>
          </a:xfrm>
          <a:prstGeom prst="line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ysDash"/>
            <a:headEnd type="stealth" w="sm" len="sm"/>
            <a:tailEnd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2461299" y="4401275"/>
            <a:ext cx="475317" cy="2059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/>
              <a:t>Surface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701568" y="4639749"/>
            <a:ext cx="444672" cy="2059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/>
              <a:t>Center</a:t>
            </a:r>
          </a:p>
        </p:txBody>
      </p:sp>
      <p:cxnSp>
        <p:nvCxnSpPr>
          <p:cNvPr id="95" name="Straight Arrow Connector 94"/>
          <p:cNvCxnSpPr/>
          <p:nvPr/>
        </p:nvCxnSpPr>
        <p:spPr>
          <a:xfrm flipH="1">
            <a:off x="2308079" y="4559949"/>
            <a:ext cx="260496" cy="112234"/>
          </a:xfrm>
          <a:prstGeom prst="straightConnector1">
            <a:avLst/>
          </a:prstGeom>
          <a:solidFill>
            <a:schemeClr val="bg1"/>
          </a:solidFill>
          <a:ln w="3175">
            <a:solidFill>
              <a:srgbClr val="000000"/>
            </a:solidFill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 96"/>
          <p:cNvSpPr/>
          <p:nvPr/>
        </p:nvSpPr>
        <p:spPr>
          <a:xfrm>
            <a:off x="2992137" y="5241133"/>
            <a:ext cx="45719" cy="45719"/>
          </a:xfrm>
          <a:prstGeom prst="ellipse">
            <a:avLst/>
          </a:prstGeom>
          <a:solidFill>
            <a:schemeClr val="tx1"/>
          </a:solidFill>
          <a:ln w="6350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">
                <a:solidFill>
                  <a:schemeClr val="tx1"/>
                </a:solidFill>
                <a:prstDash val="lgDash"/>
              </a:ln>
              <a:noFill/>
            </a:endParaRPr>
          </a:p>
        </p:txBody>
      </p:sp>
      <p:cxnSp>
        <p:nvCxnSpPr>
          <p:cNvPr id="98" name="Straight Arrow Connector 97"/>
          <p:cNvCxnSpPr/>
          <p:nvPr/>
        </p:nvCxnSpPr>
        <p:spPr>
          <a:xfrm flipH="1">
            <a:off x="3010234" y="5255988"/>
            <a:ext cx="2518" cy="168616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/>
          <p:nvPr/>
        </p:nvCxnSpPr>
        <p:spPr>
          <a:xfrm flipV="1">
            <a:off x="2867536" y="3886144"/>
            <a:ext cx="461051" cy="200025"/>
          </a:xfrm>
          <a:prstGeom prst="straightConnector1">
            <a:avLst/>
          </a:prstGeom>
          <a:ln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/>
          <p:cNvCxnSpPr/>
          <p:nvPr/>
        </p:nvCxnSpPr>
        <p:spPr>
          <a:xfrm flipV="1">
            <a:off x="3338994" y="3817144"/>
            <a:ext cx="0" cy="97576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/>
          <p:nvPr/>
        </p:nvCxnSpPr>
        <p:spPr>
          <a:xfrm flipV="1">
            <a:off x="2819400" y="4369568"/>
            <a:ext cx="282204" cy="85844"/>
          </a:xfrm>
          <a:prstGeom prst="straightConnector1">
            <a:avLst/>
          </a:prstGeom>
          <a:solidFill>
            <a:schemeClr val="bg1"/>
          </a:solidFill>
          <a:ln w="3175">
            <a:solidFill>
              <a:srgbClr val="000000"/>
            </a:solidFill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/>
          <p:nvPr/>
        </p:nvCxnSpPr>
        <p:spPr>
          <a:xfrm flipH="1">
            <a:off x="3044325" y="4559949"/>
            <a:ext cx="284263" cy="139032"/>
          </a:xfrm>
          <a:prstGeom prst="line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ysDash"/>
            <a:headEnd type="stealth" w="sm" len="sm"/>
            <a:tailEnd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9769738" y="4478649"/>
            <a:ext cx="12070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i="1" dirty="0"/>
              <a:t>Average Li</a:t>
            </a:r>
            <a:r>
              <a:rPr lang="en-US" sz="1200" b="1" i="1" baseline="30000" dirty="0"/>
              <a:t>+</a:t>
            </a:r>
            <a:r>
              <a:rPr lang="en-US" sz="1200" b="1" i="1" dirty="0"/>
              <a:t> con.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555877" y="983405"/>
            <a:ext cx="6387678" cy="220060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In the left figure,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At each DOD condition, Li concentration range is wider in (-) electrode particle than (+) particle.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Along X-direction (the electrode thickness direction), Li concentrations at (+) particle’s surface and center change more than the concentrations of (-) particle.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 reason is because Li ion diffusivity in (-) particle is smaller, but its radius is larger. </a:t>
            </a:r>
            <a:br>
              <a:rPr lang="en-US" sz="1200" dirty="0"/>
            </a:br>
            <a:r>
              <a:rPr lang="en-US" sz="1200" dirty="0"/>
              <a:t>Also, thickness (L) of (-) electrode is smaller than that of (+) electrode.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Electrochemical reaction rate changes along X-direction(See the next page).</a:t>
            </a:r>
          </a:p>
          <a:p>
            <a:pPr>
              <a:spcBef>
                <a:spcPts val="600"/>
              </a:spcBef>
            </a:pPr>
            <a:r>
              <a:rPr lang="en-US" sz="1200" dirty="0"/>
              <a:t>In the right figure,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Li ion concentration distribution in the electrolyte doesn’t much change with depth of discharge(DOD),  if it is discharged under the same rate, here 1C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 average concentration of Li in electrolyte is maintained at the initial value, </a:t>
            </a:r>
            <a:r>
              <a:rPr lang="en-US" sz="1200" i="1" dirty="0"/>
              <a:t>2kmol/m</a:t>
            </a:r>
            <a:r>
              <a:rPr lang="en-US" sz="1200" i="1" baseline="30000" dirty="0"/>
              <a:t>3</a:t>
            </a:r>
            <a:r>
              <a:rPr lang="en-US" sz="1200" dirty="0"/>
              <a:t>. </a:t>
            </a:r>
          </a:p>
        </p:txBody>
      </p:sp>
      <p:cxnSp>
        <p:nvCxnSpPr>
          <p:cNvPr id="125" name="Straight Arrow Connector 124"/>
          <p:cNvCxnSpPr/>
          <p:nvPr/>
        </p:nvCxnSpPr>
        <p:spPr>
          <a:xfrm>
            <a:off x="3625244" y="4357724"/>
            <a:ext cx="0" cy="1209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/>
          <p:cNvCxnSpPr/>
          <p:nvPr/>
        </p:nvCxnSpPr>
        <p:spPr>
          <a:xfrm>
            <a:off x="4768244" y="4440274"/>
            <a:ext cx="0" cy="1209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/>
          <p:cNvCxnSpPr/>
          <p:nvPr/>
        </p:nvCxnSpPr>
        <p:spPr>
          <a:xfrm flipV="1">
            <a:off x="3630988" y="4562766"/>
            <a:ext cx="0" cy="12133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/>
          <p:cNvCxnSpPr/>
          <p:nvPr/>
        </p:nvCxnSpPr>
        <p:spPr>
          <a:xfrm flipV="1">
            <a:off x="4768244" y="4631031"/>
            <a:ext cx="0" cy="13209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842664" y="373949"/>
            <a:ext cx="2664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01737" y="4665394"/>
            <a:ext cx="2664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44737" y="4665394"/>
            <a:ext cx="2616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3895852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94" y="2664400"/>
            <a:ext cx="4615080" cy="377851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7136" y="396073"/>
            <a:ext cx="3632004" cy="29736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8681" y="1932673"/>
            <a:ext cx="3632004" cy="2973635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0871" y="3469273"/>
            <a:ext cx="3632004" cy="2973635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05280" y="263556"/>
            <a:ext cx="4514850" cy="716394"/>
          </a:xfrm>
        </p:spPr>
        <p:txBody>
          <a:bodyPr>
            <a:normAutofit/>
          </a:bodyPr>
          <a:lstStyle/>
          <a:p>
            <a:r>
              <a:rPr lang="en-US" sz="3200" b="1" dirty="0"/>
              <a:t>Electrochemical Reactions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1033" y="3846321"/>
            <a:ext cx="8611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1" dirty="0"/>
              <a:t>1C- 80%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7631" y="3200431"/>
            <a:ext cx="8611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1" dirty="0"/>
              <a:t>1C- 20%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2023" y="810673"/>
            <a:ext cx="8611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1" dirty="0"/>
              <a:t>1C- 40%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1848" y="2325846"/>
            <a:ext cx="8611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1" dirty="0"/>
              <a:t>1C- 60%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599" y="4956090"/>
            <a:ext cx="4427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200" baseline="-25000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</a:t>
            </a:r>
            <a:endParaRPr lang="en-US" sz="1200" baseline="-2500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45004" y="3907876"/>
            <a:ext cx="4379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solidFill>
                  <a:srgbClr val="D627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200" baseline="-25000" dirty="0" err="1">
                <a:solidFill>
                  <a:srgbClr val="D627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endParaRPr lang="en-US" sz="1200" baseline="-25000" dirty="0">
              <a:solidFill>
                <a:srgbClr val="D627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8411033" y="353374"/>
                <a:ext cx="3168250" cy="110075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rgbClr val="00206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Conservation of Charge</a:t>
                </a:r>
              </a:p>
              <a:p>
                <a:pPr algn="ctr"/>
                <a:endParaRPr lang="en-US" b="1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d>
                            <m:dPr>
                              <m:ctrlPr>
                                <a:rPr lang="en-US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𝜺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400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sz="14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𝒏𝒆𝒈</m:t>
                          </m:r>
                        </m:sub>
                      </m:sSub>
                      <m:r>
                        <a:rPr lang="en-US" sz="1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d>
                            <m:dPr>
                              <m:ctrlPr>
                                <a:rPr lang="en-US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𝜺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sz="1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𝒑𝒐𝒔</m:t>
                          </m:r>
                        </m:sub>
                      </m:sSub>
                      <m:r>
                        <a:rPr lang="en-US" sz="1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𝑱</m:t>
                      </m:r>
                    </m:oMath>
                  </m:oMathPara>
                </a14:m>
                <a:endParaRPr lang="en-US" sz="1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1033" y="353374"/>
                <a:ext cx="3168250" cy="1100751"/>
              </a:xfrm>
              <a:prstGeom prst="rect">
                <a:avLst/>
              </a:prstGeom>
              <a:blipFill>
                <a:blip r:embed="rId6"/>
                <a:stretch>
                  <a:fillRect t="-2732"/>
                </a:stretch>
              </a:blipFill>
              <a:ln w="1270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A209-9D9F-4360-B47F-B96023C179CA}" type="slidenum">
              <a:rPr lang="en-US" smtClean="0"/>
              <a:t>18</a:t>
            </a:fld>
            <a:endParaRPr lang="en-US"/>
          </a:p>
        </p:txBody>
      </p:sp>
      <p:grpSp>
        <p:nvGrpSpPr>
          <p:cNvPr id="23" name="Group 22"/>
          <p:cNvGrpSpPr/>
          <p:nvPr/>
        </p:nvGrpSpPr>
        <p:grpSpPr>
          <a:xfrm>
            <a:off x="367764" y="1325960"/>
            <a:ext cx="3458724" cy="914732"/>
            <a:chOff x="413060" y="1325960"/>
            <a:chExt cx="3458724" cy="914732"/>
          </a:xfrm>
        </p:grpSpPr>
        <p:sp>
          <p:nvSpPr>
            <p:cNvPr id="22" name="Rounded Rectangle 21"/>
            <p:cNvSpPr/>
            <p:nvPr/>
          </p:nvSpPr>
          <p:spPr>
            <a:xfrm>
              <a:off x="413060" y="1325960"/>
              <a:ext cx="3458724" cy="914732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784980" y="1404401"/>
                  <a:ext cx="2417970" cy="25167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𝐿𝑖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box>
                          <m:box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num>
                              <m:den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𝑅𝑇</m:t>
                                </m:r>
                              </m:den>
                            </m:f>
                          </m:e>
                        </m:box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)−</m:t>
                        </m:r>
                        <m:r>
                          <m:rPr>
                            <m:sty m:val="p"/>
                          </m:rPr>
                          <a:rPr lang="en-US" sz="1400"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⁡(</m:t>
                        </m:r>
                        <m:box>
                          <m:box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num>
                              <m:den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𝑅𝑇</m:t>
                                </m:r>
                              </m:den>
                            </m:f>
                          </m:e>
                        </m:box>
                        <m: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4980" y="1404401"/>
                  <a:ext cx="2417970" cy="251672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l="-2015" r="-2015" b="-1904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/>
                <p:cNvSpPr txBox="1"/>
                <p:nvPr/>
              </p:nvSpPr>
              <p:spPr>
                <a:xfrm>
                  <a:off x="1001483" y="1852080"/>
                  <a:ext cx="2514343" cy="28918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p>
                          <m:sSup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  <m:t>𝑚𝑎𝑥</m:t>
                                        </m:r>
                                      </m:sub>
                                    </m:sSub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b>
                                    </m:sSub>
                                  </m:e>
                                </m:d>
                                <m:d>
                                  <m:dPr>
                                    <m:ctrlP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sSub>
                                          <m:sSubPr>
                                            <m:ctrlPr>
                                              <a:rPr lang="en-US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100" i="1">
                                                <a:latin typeface="Cambria Math" panose="02040503050406030204" pitchFamily="18" charset="0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US" sz="1100" i="1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sub>
                                        </m:sSub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  <m:t>𝑚𝑖𝑛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  <m:sup>
                            <m:box>
                              <m:boxPr>
                                <m:ctrlP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boxPr>
                              <m:e>
                                <m:argPr>
                                  <m:argSz m:val="-1"/>
                                </m:argPr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</m:box>
                          </m:sup>
                        </m:sSup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1483" y="1852080"/>
                  <a:ext cx="2514343" cy="289182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l="-971" t="-4255" r="-243" b="-2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5" name="Straight Arrow Connector 24"/>
          <p:cNvCxnSpPr/>
          <p:nvPr/>
        </p:nvCxnSpPr>
        <p:spPr>
          <a:xfrm>
            <a:off x="3178436" y="3469273"/>
            <a:ext cx="0" cy="946863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4238309" y="3761509"/>
            <a:ext cx="0" cy="675409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066008" y="4416136"/>
            <a:ext cx="2664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5489" y="4416136"/>
            <a:ext cx="2616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B</a:t>
            </a:r>
          </a:p>
        </p:txBody>
      </p:sp>
      <p:sp>
        <p:nvSpPr>
          <p:cNvPr id="2" name="Oval 1"/>
          <p:cNvSpPr/>
          <p:nvPr/>
        </p:nvSpPr>
        <p:spPr>
          <a:xfrm>
            <a:off x="3148418" y="3456996"/>
            <a:ext cx="72736" cy="7273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4205693" y="3752271"/>
            <a:ext cx="72736" cy="7273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3023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A209-9D9F-4360-B47F-B96023C179CA}" type="slidenum">
              <a:rPr lang="en-US" smtClean="0"/>
              <a:t>19</a:t>
            </a:fld>
            <a:endParaRPr lang="en-US"/>
          </a:p>
        </p:txBody>
      </p:sp>
      <p:grpSp>
        <p:nvGrpSpPr>
          <p:cNvPr id="61" name="Group 60"/>
          <p:cNvGrpSpPr/>
          <p:nvPr/>
        </p:nvGrpSpPr>
        <p:grpSpPr>
          <a:xfrm>
            <a:off x="343637" y="1171922"/>
            <a:ext cx="10844646" cy="4164558"/>
            <a:chOff x="343637" y="1681081"/>
            <a:chExt cx="10844646" cy="4164558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3637" y="1940832"/>
              <a:ext cx="4445613" cy="3488798"/>
            </a:xfrm>
            <a:prstGeom prst="rect">
              <a:avLst/>
            </a:prstGeom>
          </p:spPr>
        </p:pic>
        <p:cxnSp>
          <p:nvCxnSpPr>
            <p:cNvPr id="16" name="Straight Connector 15"/>
            <p:cNvCxnSpPr/>
            <p:nvPr/>
          </p:nvCxnSpPr>
          <p:spPr>
            <a:xfrm>
              <a:off x="838200" y="4234756"/>
              <a:ext cx="3862754" cy="0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TextBox 3"/>
            <p:cNvSpPr txBox="1"/>
            <p:nvPr/>
          </p:nvSpPr>
          <p:spPr>
            <a:xfrm>
              <a:off x="3267778" y="5189123"/>
              <a:ext cx="146706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>
                  <a:latin typeface="Arial Narrow" panose="020B0606020202030204" pitchFamily="34" charset="0"/>
                </a:rPr>
                <a:t>100% </a:t>
              </a:r>
              <a:r>
                <a:rPr lang="en-US" sz="1400" i="1" dirty="0">
                  <a:latin typeface="Arial Narrow" panose="020B0606020202030204" pitchFamily="34" charset="0"/>
                  <a:sym typeface="Symbol" panose="05050102010706020507" pitchFamily="18" charset="2"/>
                </a:rPr>
                <a:t></a:t>
              </a:r>
              <a:r>
                <a:rPr lang="en-US" sz="1400" i="1" dirty="0">
                  <a:latin typeface="Arial Narrow" panose="020B0606020202030204" pitchFamily="34" charset="0"/>
                </a:rPr>
                <a:t>17.5Ah/m</a:t>
              </a:r>
              <a:r>
                <a:rPr lang="en-US" sz="1400" i="1" baseline="30000" dirty="0">
                  <a:latin typeface="Arial Narrow" panose="020B0606020202030204" pitchFamily="34" charset="0"/>
                </a:rPr>
                <a:t>2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3277732" y="4190306"/>
              <a:ext cx="88900" cy="889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4468854" y="4190306"/>
              <a:ext cx="88900" cy="889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4095806" y="4190306"/>
              <a:ext cx="88900" cy="889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rgbClr val="FF820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2621492" y="4190306"/>
              <a:ext cx="88900" cy="889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rgbClr val="D6272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17520" y="1783794"/>
              <a:ext cx="5570763" cy="4061845"/>
            </a:xfrm>
            <a:prstGeom prst="rect">
              <a:avLst/>
            </a:prstGeom>
          </p:spPr>
        </p:pic>
        <p:cxnSp>
          <p:nvCxnSpPr>
            <p:cNvPr id="18" name="Straight Connector 17"/>
            <p:cNvCxnSpPr/>
            <p:nvPr/>
          </p:nvCxnSpPr>
          <p:spPr>
            <a:xfrm flipV="1">
              <a:off x="7252482" y="1940832"/>
              <a:ext cx="0" cy="3357686"/>
            </a:xfrm>
            <a:prstGeom prst="line">
              <a:avLst/>
            </a:prstGeom>
            <a:ln w="19050">
              <a:solidFill>
                <a:srgbClr val="0070C0"/>
              </a:solidFill>
              <a:prstDash val="lgDashDot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9862039" y="1940832"/>
              <a:ext cx="0" cy="3357686"/>
            </a:xfrm>
            <a:prstGeom prst="line">
              <a:avLst/>
            </a:prstGeom>
            <a:ln w="19050">
              <a:solidFill>
                <a:srgbClr val="0070C0"/>
              </a:solidFill>
              <a:prstDash val="lgDashDot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3665435" y="4274214"/>
              <a:ext cx="59663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rgbClr val="FF820E"/>
                  </a:solidFill>
                </a:rPr>
                <a:t>2C-2.5V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941381" y="4251180"/>
              <a:ext cx="59663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rgbClr val="2CA02C"/>
                  </a:solidFill>
                </a:rPr>
                <a:t>3C-2.5V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154719" y="4237926"/>
              <a:ext cx="61908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accent5"/>
                  </a:solidFill>
                </a:rPr>
                <a:t>1C-2.5V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628325" y="2503117"/>
              <a:ext cx="59663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rgbClr val="D72728"/>
                  </a:solidFill>
                </a:rPr>
                <a:t>4C-2.5V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833486" y="3414709"/>
              <a:ext cx="59663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rgbClr val="2CA02C"/>
                  </a:solidFill>
                </a:rPr>
                <a:t>3C-2.5V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853390" y="4751004"/>
              <a:ext cx="59663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accent5"/>
                  </a:solidFill>
                </a:rPr>
                <a:t>1C-2.5V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268124" y="4369298"/>
              <a:ext cx="59663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rgbClr val="D72728"/>
                  </a:solidFill>
                </a:rPr>
                <a:t>4C-2.5V</a:t>
              </a:r>
            </a:p>
          </p:txBody>
        </p:sp>
        <p:cxnSp>
          <p:nvCxnSpPr>
            <p:cNvPr id="47" name="Straight Arrow Connector 46"/>
            <p:cNvCxnSpPr/>
            <p:nvPr/>
          </p:nvCxnSpPr>
          <p:spPr>
            <a:xfrm>
              <a:off x="7911959" y="4700280"/>
              <a:ext cx="0" cy="432277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/>
            <p:nvPr/>
          </p:nvCxnSpPr>
          <p:spPr>
            <a:xfrm>
              <a:off x="7833486" y="3250451"/>
              <a:ext cx="0" cy="152638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/>
            <p:nvPr/>
          </p:nvCxnSpPr>
          <p:spPr>
            <a:xfrm>
              <a:off x="6694239" y="2711620"/>
              <a:ext cx="0" cy="1718467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/>
            <p:cNvSpPr txBox="1"/>
            <p:nvPr/>
          </p:nvSpPr>
          <p:spPr>
            <a:xfrm>
              <a:off x="6087239" y="4430087"/>
              <a:ext cx="59663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rgbClr val="FF820E"/>
                  </a:solidFill>
                </a:rPr>
                <a:t>2C-2.5V</a:t>
              </a:r>
            </a:p>
          </p:txBody>
        </p:sp>
        <p:cxnSp>
          <p:nvCxnSpPr>
            <p:cNvPr id="49" name="Straight Arrow Connector 48"/>
            <p:cNvCxnSpPr/>
            <p:nvPr/>
          </p:nvCxnSpPr>
          <p:spPr>
            <a:xfrm>
              <a:off x="6606926" y="4161571"/>
              <a:ext cx="0" cy="877957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/>
            <p:cNvSpPr txBox="1"/>
            <p:nvPr/>
          </p:nvSpPr>
          <p:spPr>
            <a:xfrm>
              <a:off x="6998010" y="1681081"/>
              <a:ext cx="4267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accent5"/>
                  </a:solidFill>
                </a:rPr>
                <a:t>X50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9609405" y="1681081"/>
              <a:ext cx="50526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accent5"/>
                  </a:solidFill>
                </a:rPr>
                <a:t>X250</a:t>
              </a:r>
            </a:p>
          </p:txBody>
        </p:sp>
      </p:grpSp>
      <p:sp>
        <p:nvSpPr>
          <p:cNvPr id="59" name="Title 1"/>
          <p:cNvSpPr>
            <a:spLocks noGrp="1"/>
          </p:cNvSpPr>
          <p:nvPr>
            <p:ph type="title"/>
          </p:nvPr>
        </p:nvSpPr>
        <p:spPr>
          <a:xfrm>
            <a:off x="525781" y="161463"/>
            <a:ext cx="10650114" cy="1052015"/>
          </a:xfrm>
        </p:spPr>
        <p:txBody>
          <a:bodyPr>
            <a:normAutofit/>
          </a:bodyPr>
          <a:lstStyle/>
          <a:p>
            <a:r>
              <a:rPr lang="en-US" sz="4000" b="1" dirty="0"/>
              <a:t>Li</a:t>
            </a:r>
            <a:r>
              <a:rPr lang="en-US" sz="4000" b="1" baseline="30000" dirty="0"/>
              <a:t>+</a:t>
            </a:r>
            <a:r>
              <a:rPr lang="en-US" sz="4000" b="1" dirty="0"/>
              <a:t> transfer in Electrodes, </a:t>
            </a:r>
            <a:r>
              <a:rPr lang="en-US" sz="2700" b="1" dirty="0"/>
              <a:t>when cell is discharged to </a:t>
            </a:r>
            <a:r>
              <a:rPr lang="en-US" sz="2700" b="1" dirty="0" err="1"/>
              <a:t>V</a:t>
            </a:r>
            <a:r>
              <a:rPr lang="en-US" sz="2700" b="1" baseline="-25000" dirty="0" err="1"/>
              <a:t>out</a:t>
            </a:r>
            <a:r>
              <a:rPr lang="en-US" sz="2700" b="1" dirty="0"/>
              <a:t> = 2.5V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0043" y="5287542"/>
            <a:ext cx="10048310" cy="123110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As shown in the right figure,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At 1C-2.5V, Li concentration at surface (</a:t>
            </a:r>
            <a:r>
              <a:rPr lang="en-US" sz="1200" dirty="0" err="1"/>
              <a:t>C</a:t>
            </a:r>
            <a:r>
              <a:rPr lang="en-US" sz="1200" baseline="-25000" dirty="0" err="1"/>
              <a:t>sur</a:t>
            </a:r>
            <a:r>
              <a:rPr lang="en-US" sz="1200" dirty="0"/>
              <a:t>) has reached its minimum(</a:t>
            </a:r>
            <a:r>
              <a:rPr lang="en-US" sz="1200" dirty="0">
                <a:sym typeface="Symbol" panose="05050102010706020507" pitchFamily="18" charset="2"/>
              </a:rPr>
              <a:t>0) at surface. </a:t>
            </a:r>
            <a:br>
              <a:rPr lang="en-US" sz="1200" dirty="0">
                <a:sym typeface="Symbol" panose="05050102010706020507" pitchFamily="18" charset="2"/>
              </a:rPr>
            </a:br>
            <a:r>
              <a:rPr lang="en-US" sz="1200" dirty="0">
                <a:sym typeface="Symbol" panose="05050102010706020507" pitchFamily="18" charset="2"/>
              </a:rPr>
              <a:t>Due to depletion of Li+, </a:t>
            </a:r>
            <a:r>
              <a:rPr lang="en-US" sz="1200" dirty="0"/>
              <a:t> electrochemical reaction is limited and cell output voltage drops quickly.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As discharging get faster than 1C, </a:t>
            </a:r>
            <a:r>
              <a:rPr lang="en-US" sz="1200" dirty="0" err="1"/>
              <a:t>C</a:t>
            </a:r>
            <a:r>
              <a:rPr lang="en-US" sz="1200" baseline="-25000" dirty="0" err="1"/>
              <a:t>sur</a:t>
            </a:r>
            <a:r>
              <a:rPr lang="en-US" sz="1200" dirty="0"/>
              <a:t> is higher at </a:t>
            </a:r>
            <a:r>
              <a:rPr lang="en-US" sz="1200" dirty="0" err="1"/>
              <a:t>V</a:t>
            </a:r>
            <a:r>
              <a:rPr lang="en-US" sz="1200" baseline="-25000" dirty="0" err="1"/>
              <a:t>out</a:t>
            </a:r>
            <a:r>
              <a:rPr lang="en-US" sz="1200" dirty="0"/>
              <a:t>=2.5V. But voltage drop quickly by internal resistance.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At higher discharging rate condition, </a:t>
            </a:r>
            <a:r>
              <a:rPr lang="en-US" sz="1200" dirty="0" err="1"/>
              <a:t>C</a:t>
            </a:r>
            <a:r>
              <a:rPr lang="en-US" sz="1200" baseline="-25000" dirty="0" err="1"/>
              <a:t>Li</a:t>
            </a:r>
            <a:r>
              <a:rPr lang="en-US" sz="1200" dirty="0"/>
              <a:t> range in the electrode particle,|</a:t>
            </a:r>
            <a:r>
              <a:rPr lang="en-US" sz="1200" dirty="0" err="1"/>
              <a:t>C</a:t>
            </a:r>
            <a:r>
              <a:rPr lang="en-US" sz="1200" baseline="-25000" dirty="0" err="1"/>
              <a:t>sur</a:t>
            </a:r>
            <a:r>
              <a:rPr lang="en-US" sz="1200" baseline="-25000" dirty="0"/>
              <a:t> </a:t>
            </a:r>
            <a:r>
              <a:rPr lang="en-US" sz="1200" dirty="0"/>
              <a:t>- </a:t>
            </a:r>
            <a:r>
              <a:rPr lang="en-US" sz="1200" dirty="0" err="1"/>
              <a:t>C</a:t>
            </a:r>
            <a:r>
              <a:rPr lang="en-US" sz="1200" baseline="-25000" dirty="0" err="1"/>
              <a:t>cen</a:t>
            </a:r>
            <a:r>
              <a:rPr lang="en-US" sz="1200" dirty="0"/>
              <a:t>|, becomes wider at both +/- electrodes.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 range of (+)electrode is narrower than that of (-), because the diffusivity and the particle radius of (+) particle are higher and smaller than  (-) electrode.</a:t>
            </a:r>
          </a:p>
        </p:txBody>
      </p:sp>
    </p:spTree>
    <p:extLst>
      <p:ext uri="{BB962C8B-B14F-4D97-AF65-F5344CB8AC3E}">
        <p14:creationId xmlns:p14="http://schemas.microsoft.com/office/powerpoint/2010/main" val="8152385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A209-9D9F-4360-B47F-B96023C179CA}" type="slidenum">
              <a:rPr lang="en-US" smtClean="0"/>
              <a:t>20</a:t>
            </a:fld>
            <a:endParaRPr lang="en-US"/>
          </a:p>
        </p:txBody>
      </p:sp>
      <p:sp>
        <p:nvSpPr>
          <p:cNvPr id="63" name="TextBox 62"/>
          <p:cNvSpPr txBox="1"/>
          <p:nvPr/>
        </p:nvSpPr>
        <p:spPr>
          <a:xfrm>
            <a:off x="583383" y="4937867"/>
            <a:ext cx="10376994" cy="19082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Left figure shows the Li ion concentration in (+)/(-) particle at x=50 and x=250 position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In (+) electrode particle which has smaller size and higher diffusivity, Li concentration range is smaller than in (-) electrode.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 concentration range expands with higher discharging rate.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 cell’s voltage decreases from 4.2V to 2.5V as it discharges at four different rates.  During discharging, Li ions in (-) electrode transfer to (+)electrode.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 difference between Li concentration curves of (+)/(-) electrode is larger at lower C-rate (Max. at 1C). That means more Li ions transfer at slower discharging condition; higher discharge capacity. </a:t>
            </a:r>
          </a:p>
          <a:p>
            <a:pPr>
              <a:spcBef>
                <a:spcPts val="1200"/>
              </a:spcBef>
            </a:pPr>
            <a:r>
              <a:rPr lang="en-US" sz="1200" dirty="0"/>
              <a:t>In the right figure,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As the discharging rate increases, more Li ion transfer through electrolyte from (-) to (+) electrode.  And It causes the concentration gradient of Li ion to increase.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However, the average concentration of Li ion is maintained at the initial concentration, </a:t>
            </a:r>
            <a:r>
              <a:rPr lang="en-US" sz="1200" i="1" dirty="0"/>
              <a:t>2 </a:t>
            </a:r>
            <a:r>
              <a:rPr lang="en-US" sz="1200" i="1" dirty="0" err="1"/>
              <a:t>kmol</a:t>
            </a:r>
            <a:r>
              <a:rPr lang="en-US" sz="1200" i="1" dirty="0"/>
              <a:t>/m</a:t>
            </a:r>
            <a:r>
              <a:rPr lang="en-US" sz="1200" i="1" baseline="30000" dirty="0"/>
              <a:t>3</a:t>
            </a:r>
            <a:r>
              <a:rPr lang="en-US" sz="1200" dirty="0"/>
              <a:t>. </a:t>
            </a:r>
          </a:p>
        </p:txBody>
      </p:sp>
      <p:grpSp>
        <p:nvGrpSpPr>
          <p:cNvPr id="76" name="Group 75"/>
          <p:cNvGrpSpPr/>
          <p:nvPr/>
        </p:nvGrpSpPr>
        <p:grpSpPr>
          <a:xfrm>
            <a:off x="192311" y="228692"/>
            <a:ext cx="11160490" cy="4614505"/>
            <a:chOff x="192311" y="311820"/>
            <a:chExt cx="11160490" cy="4614505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69124" y="584317"/>
              <a:ext cx="5273595" cy="3845169"/>
            </a:xfrm>
            <a:prstGeom prst="rect">
              <a:avLst/>
            </a:prstGeom>
          </p:spPr>
        </p:pic>
        <p:grpSp>
          <p:nvGrpSpPr>
            <p:cNvPr id="32" name="Group 31"/>
            <p:cNvGrpSpPr/>
            <p:nvPr/>
          </p:nvGrpSpPr>
          <p:grpSpPr>
            <a:xfrm>
              <a:off x="9946774" y="1076366"/>
              <a:ext cx="914468" cy="694222"/>
              <a:chOff x="8750782" y="933185"/>
              <a:chExt cx="914468" cy="694222"/>
            </a:xfrm>
          </p:grpSpPr>
          <p:cxnSp>
            <p:nvCxnSpPr>
              <p:cNvPr id="33" name="Straight Connector 32"/>
              <p:cNvCxnSpPr/>
              <p:nvPr/>
            </p:nvCxnSpPr>
            <p:spPr>
              <a:xfrm>
                <a:off x="8750782" y="1052913"/>
                <a:ext cx="304995" cy="0"/>
              </a:xfrm>
              <a:prstGeom prst="line">
                <a:avLst/>
              </a:prstGeom>
              <a:ln w="28575">
                <a:solidFill>
                  <a:srgbClr val="DE515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>
              <a:xfrm>
                <a:off x="8750782" y="1342013"/>
                <a:ext cx="304995" cy="0"/>
              </a:xfrm>
              <a:prstGeom prst="line">
                <a:avLst/>
              </a:prstGeom>
              <a:ln w="28575">
                <a:solidFill>
                  <a:srgbClr val="FF820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9004492" y="1211909"/>
                <a:ext cx="660758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-2C-2.5V</a:t>
                </a:r>
              </a:p>
              <a:p>
                <a:endParaRPr lang="en-US" sz="1050" b="1" dirty="0"/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9004492" y="933185"/>
                <a:ext cx="660758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-4C-2.5V</a:t>
                </a:r>
              </a:p>
            </p:txBody>
          </p:sp>
          <p:cxnSp>
            <p:nvCxnSpPr>
              <p:cNvPr id="37" name="Straight Connector 36"/>
              <p:cNvCxnSpPr/>
              <p:nvPr/>
            </p:nvCxnSpPr>
            <p:spPr>
              <a:xfrm>
                <a:off x="8750782" y="1486564"/>
                <a:ext cx="304995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TextBox 37"/>
              <p:cNvSpPr txBox="1"/>
              <p:nvPr/>
            </p:nvSpPr>
            <p:spPr>
              <a:xfrm>
                <a:off x="9000326" y="1355664"/>
                <a:ext cx="660758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-1C-2.5V</a:t>
                </a:r>
              </a:p>
            </p:txBody>
          </p:sp>
          <p:cxnSp>
            <p:nvCxnSpPr>
              <p:cNvPr id="39" name="Straight Connector 38"/>
              <p:cNvCxnSpPr/>
              <p:nvPr/>
            </p:nvCxnSpPr>
            <p:spPr>
              <a:xfrm>
                <a:off x="8750782" y="1197463"/>
                <a:ext cx="304995" cy="0"/>
              </a:xfrm>
              <a:prstGeom prst="line">
                <a:avLst/>
              </a:prstGeom>
              <a:ln w="28575">
                <a:solidFill>
                  <a:srgbClr val="3BA73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TextBox 39"/>
              <p:cNvSpPr txBox="1"/>
              <p:nvPr/>
            </p:nvSpPr>
            <p:spPr>
              <a:xfrm>
                <a:off x="9004492" y="1072547"/>
                <a:ext cx="660758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/>
                  <a:t>-3C-2.5V</a:t>
                </a:r>
              </a:p>
            </p:txBody>
          </p:sp>
        </p:grpSp>
        <p:grpSp>
          <p:nvGrpSpPr>
            <p:cNvPr id="58" name="Group 57"/>
            <p:cNvGrpSpPr/>
            <p:nvPr/>
          </p:nvGrpSpPr>
          <p:grpSpPr>
            <a:xfrm>
              <a:off x="274642" y="311820"/>
              <a:ext cx="5275385" cy="4614505"/>
              <a:chOff x="246184" y="1965027"/>
              <a:chExt cx="5275385" cy="4614505"/>
            </a:xfrm>
          </p:grpSpPr>
          <p:pic>
            <p:nvPicPr>
              <p:cNvPr id="7" name="Picture 6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6184" y="2379784"/>
                <a:ext cx="5275385" cy="3846474"/>
              </a:xfrm>
              <a:prstGeom prst="rect">
                <a:avLst/>
              </a:prstGeom>
            </p:spPr>
          </p:pic>
          <p:grpSp>
            <p:nvGrpSpPr>
              <p:cNvPr id="22" name="Group 21"/>
              <p:cNvGrpSpPr/>
              <p:nvPr/>
            </p:nvGrpSpPr>
            <p:grpSpPr>
              <a:xfrm>
                <a:off x="4417679" y="2811412"/>
                <a:ext cx="914468" cy="694222"/>
                <a:chOff x="8750782" y="933185"/>
                <a:chExt cx="914468" cy="694222"/>
              </a:xfrm>
            </p:grpSpPr>
            <p:cxnSp>
              <p:nvCxnSpPr>
                <p:cNvPr id="23" name="Straight Connector 22"/>
                <p:cNvCxnSpPr/>
                <p:nvPr/>
              </p:nvCxnSpPr>
              <p:spPr>
                <a:xfrm>
                  <a:off x="8750782" y="1052913"/>
                  <a:ext cx="304995" cy="0"/>
                </a:xfrm>
                <a:prstGeom prst="line">
                  <a:avLst/>
                </a:prstGeom>
                <a:ln w="28575">
                  <a:solidFill>
                    <a:srgbClr val="DE515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/>
                <p:cNvCxnSpPr/>
                <p:nvPr/>
              </p:nvCxnSpPr>
              <p:spPr>
                <a:xfrm>
                  <a:off x="8750782" y="1342013"/>
                  <a:ext cx="304995" cy="0"/>
                </a:xfrm>
                <a:prstGeom prst="line">
                  <a:avLst/>
                </a:prstGeom>
                <a:ln w="28575">
                  <a:solidFill>
                    <a:srgbClr val="FF820E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5" name="TextBox 24"/>
                <p:cNvSpPr txBox="1"/>
                <p:nvPr/>
              </p:nvSpPr>
              <p:spPr>
                <a:xfrm>
                  <a:off x="9004492" y="1211909"/>
                  <a:ext cx="660758" cy="4154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50" b="1" dirty="0"/>
                    <a:t>-2C-2.5V</a:t>
                  </a:r>
                </a:p>
                <a:p>
                  <a:endParaRPr lang="en-US" sz="1050" b="1" dirty="0"/>
                </a:p>
              </p:txBody>
            </p:sp>
            <p:sp>
              <p:nvSpPr>
                <p:cNvPr id="26" name="TextBox 25"/>
                <p:cNvSpPr txBox="1"/>
                <p:nvPr/>
              </p:nvSpPr>
              <p:spPr>
                <a:xfrm>
                  <a:off x="9004492" y="933185"/>
                  <a:ext cx="660758" cy="2539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50" b="1" dirty="0"/>
                    <a:t>-4C-2.5V</a:t>
                  </a:r>
                </a:p>
              </p:txBody>
            </p:sp>
            <p:cxnSp>
              <p:nvCxnSpPr>
                <p:cNvPr id="27" name="Straight Connector 26"/>
                <p:cNvCxnSpPr/>
                <p:nvPr/>
              </p:nvCxnSpPr>
              <p:spPr>
                <a:xfrm>
                  <a:off x="8750782" y="1486564"/>
                  <a:ext cx="304995" cy="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" name="TextBox 27"/>
                <p:cNvSpPr txBox="1"/>
                <p:nvPr/>
              </p:nvSpPr>
              <p:spPr>
                <a:xfrm>
                  <a:off x="9000326" y="1355664"/>
                  <a:ext cx="660758" cy="2539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50" b="1" dirty="0"/>
                    <a:t>-1C-2.5V</a:t>
                  </a:r>
                </a:p>
              </p:txBody>
            </p:sp>
            <p:cxnSp>
              <p:nvCxnSpPr>
                <p:cNvPr id="29" name="Straight Connector 28"/>
                <p:cNvCxnSpPr/>
                <p:nvPr/>
              </p:nvCxnSpPr>
              <p:spPr>
                <a:xfrm>
                  <a:off x="8750782" y="1197463"/>
                  <a:ext cx="304995" cy="0"/>
                </a:xfrm>
                <a:prstGeom prst="line">
                  <a:avLst/>
                </a:prstGeom>
                <a:ln w="28575">
                  <a:solidFill>
                    <a:srgbClr val="3BA73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0" name="TextBox 29"/>
                <p:cNvSpPr txBox="1"/>
                <p:nvPr/>
              </p:nvSpPr>
              <p:spPr>
                <a:xfrm>
                  <a:off x="9004492" y="1072547"/>
                  <a:ext cx="660758" cy="2539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50" b="1" dirty="0"/>
                    <a:t>-3C-2.5V</a:t>
                  </a:r>
                </a:p>
              </p:txBody>
            </p:sp>
          </p:grpSp>
          <p:cxnSp>
            <p:nvCxnSpPr>
              <p:cNvPr id="42" name="Straight Connector 41"/>
              <p:cNvCxnSpPr/>
              <p:nvPr/>
            </p:nvCxnSpPr>
            <p:spPr>
              <a:xfrm flipV="1">
                <a:off x="1046205" y="2026511"/>
                <a:ext cx="0" cy="4505825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>
              <a:xfrm flipV="1">
                <a:off x="3880021" y="1968843"/>
                <a:ext cx="0" cy="2191266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>
              <a:xfrm flipV="1">
                <a:off x="5202194" y="4446610"/>
                <a:ext cx="0" cy="2085726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/>
              <p:cNvCxnSpPr/>
              <p:nvPr/>
            </p:nvCxnSpPr>
            <p:spPr>
              <a:xfrm>
                <a:off x="1046205" y="2180470"/>
                <a:ext cx="2833816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TextBox 50"/>
              <p:cNvSpPr txBox="1"/>
              <p:nvPr/>
            </p:nvSpPr>
            <p:spPr>
              <a:xfrm>
                <a:off x="1250281" y="1965027"/>
                <a:ext cx="2496196" cy="43088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100" b="1" dirty="0"/>
                  <a:t>Li concentration </a:t>
                </a:r>
              </a:p>
              <a:p>
                <a:r>
                  <a:rPr lang="en-US" sz="1100" b="1" dirty="0"/>
                  <a:t>in (+) electrode particle(8.5</a:t>
                </a:r>
                <a:r>
                  <a:rPr lang="el-GR" sz="1100" b="1" dirty="0"/>
                  <a:t>μ</a:t>
                </a:r>
                <a:r>
                  <a:rPr lang="en-US" sz="1100" b="1" dirty="0"/>
                  <a:t>m) @ </a:t>
                </a:r>
                <a:r>
                  <a:rPr lang="en-US" sz="1100" b="1" dirty="0">
                    <a:solidFill>
                      <a:schemeClr val="accent5"/>
                    </a:solidFill>
                  </a:rPr>
                  <a:t>X=50</a:t>
                </a:r>
              </a:p>
            </p:txBody>
          </p:sp>
          <p:cxnSp>
            <p:nvCxnSpPr>
              <p:cNvPr id="56" name="Straight Arrow Connector 55"/>
              <p:cNvCxnSpPr/>
              <p:nvPr/>
            </p:nvCxnSpPr>
            <p:spPr>
              <a:xfrm>
                <a:off x="1046205" y="6364088"/>
                <a:ext cx="4155989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TextBox 54"/>
              <p:cNvSpPr txBox="1"/>
              <p:nvPr/>
            </p:nvSpPr>
            <p:spPr>
              <a:xfrm>
                <a:off x="1793789" y="6148645"/>
                <a:ext cx="2613216" cy="43088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100" b="1" dirty="0"/>
                  <a:t>Li concentration </a:t>
                </a:r>
              </a:p>
              <a:p>
                <a:r>
                  <a:rPr lang="en-US" sz="1100" b="1" dirty="0"/>
                  <a:t>in (-) electrode particle(12.5</a:t>
                </a:r>
                <a:r>
                  <a:rPr lang="el-GR" sz="1100" b="1" dirty="0"/>
                  <a:t>μ</a:t>
                </a:r>
                <a:r>
                  <a:rPr lang="en-US" sz="1100" b="1" dirty="0"/>
                  <a:t>m) @ </a:t>
                </a:r>
                <a:r>
                  <a:rPr lang="en-US" sz="1100" b="1" dirty="0">
                    <a:solidFill>
                      <a:schemeClr val="accent5"/>
                    </a:solidFill>
                  </a:rPr>
                  <a:t>X=250</a:t>
                </a:r>
              </a:p>
            </p:txBody>
          </p:sp>
        </p:grpSp>
        <p:sp>
          <p:nvSpPr>
            <p:cNvPr id="59" name="TextBox 58"/>
            <p:cNvSpPr txBox="1"/>
            <p:nvPr/>
          </p:nvSpPr>
          <p:spPr>
            <a:xfrm>
              <a:off x="7277189" y="4571352"/>
              <a:ext cx="3683188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Li ion concentration in electrolyte at </a:t>
              </a:r>
              <a:r>
                <a:rPr lang="en-US" sz="1400" b="1" dirty="0" err="1"/>
                <a:t>V</a:t>
              </a:r>
              <a:r>
                <a:rPr lang="en-US" sz="1400" b="1" baseline="-25000" dirty="0" err="1"/>
                <a:t>out</a:t>
              </a:r>
              <a:r>
                <a:rPr lang="en-US" sz="1400" b="1" dirty="0"/>
                <a:t> = 2.5V</a:t>
              </a:r>
            </a:p>
          </p:txBody>
        </p:sp>
        <p:cxnSp>
          <p:nvCxnSpPr>
            <p:cNvPr id="61" name="Straight Connector 60"/>
            <p:cNvCxnSpPr/>
            <p:nvPr/>
          </p:nvCxnSpPr>
          <p:spPr>
            <a:xfrm>
              <a:off x="6812692" y="2641490"/>
              <a:ext cx="4366054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/>
            <p:cNvSpPr txBox="1"/>
            <p:nvPr/>
          </p:nvSpPr>
          <p:spPr>
            <a:xfrm>
              <a:off x="10145739" y="2412581"/>
              <a:ext cx="12070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i="1" dirty="0"/>
                <a:t>Average Li</a:t>
              </a:r>
              <a:r>
                <a:rPr lang="en-US" sz="1200" b="1" i="1" baseline="30000" dirty="0"/>
                <a:t>+</a:t>
              </a:r>
              <a:r>
                <a:rPr lang="en-US" sz="1200" b="1" i="1" dirty="0"/>
                <a:t> con.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/>
                <p:cNvSpPr txBox="1"/>
                <p:nvPr/>
              </p:nvSpPr>
              <p:spPr>
                <a:xfrm>
                  <a:off x="192311" y="3534447"/>
                  <a:ext cx="370294" cy="234038"/>
                </a:xfrm>
                <a:prstGeom prst="rect">
                  <a:avLst/>
                </a:prstGeom>
                <a:noFill/>
                <a:ln w="3175">
                  <a:solidFill>
                    <a:schemeClr val="accent5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8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8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800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800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800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8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8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  <m:r>
                          <a:rPr lang="en-US" sz="8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sz="800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64" name="TextBox 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311" y="3534447"/>
                  <a:ext cx="370294" cy="234038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8197" t="-2500" r="-4918" b="-12500"/>
                  </a:stretch>
                </a:blipFill>
                <a:ln w="3175">
                  <a:solidFill>
                    <a:schemeClr val="accent5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/>
                <p:cNvSpPr txBox="1"/>
                <p:nvPr/>
              </p:nvSpPr>
              <p:spPr>
                <a:xfrm>
                  <a:off x="4342820" y="2175684"/>
                  <a:ext cx="682302" cy="254942"/>
                </a:xfrm>
                <a:prstGeom prst="rect">
                  <a:avLst/>
                </a:prstGeom>
                <a:noFill/>
                <a:ln w="3175">
                  <a:solidFill>
                    <a:schemeClr val="accent5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8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8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8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8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f>
                          <m:fPr>
                            <m:ctrlPr>
                              <a:rPr lang="en-US" sz="8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8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800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800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800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8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8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  <m:r>
                          <a:rPr lang="en-US" sz="8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8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800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800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  <m:sub>
                                <m:r>
                                  <a:rPr lang="en-US" sz="800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𝐿𝑖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800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800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800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  <m:r>
                              <a:rPr lang="en-US" sz="8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den>
                        </m:f>
                      </m:oMath>
                    </m:oMathPara>
                  </a14:m>
                  <a:endParaRPr lang="en-US" sz="800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65" name="TextBox 6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42820" y="2175684"/>
                  <a:ext cx="682302" cy="254942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885" t="-4651" r="-1770" b="-6977"/>
                  </a:stretch>
                </a:blipFill>
                <a:ln w="3175">
                  <a:solidFill>
                    <a:schemeClr val="accent5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7" name="Straight Arrow Connector 66"/>
            <p:cNvCxnSpPr/>
            <p:nvPr/>
          </p:nvCxnSpPr>
          <p:spPr>
            <a:xfrm flipV="1">
              <a:off x="562606" y="3115886"/>
              <a:ext cx="512057" cy="42672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/>
            <p:nvPr/>
          </p:nvCxnSpPr>
          <p:spPr>
            <a:xfrm flipH="1" flipV="1">
              <a:off x="3918562" y="1711343"/>
              <a:ext cx="424258" cy="46434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/>
            <p:cNvCxnSpPr/>
            <p:nvPr/>
          </p:nvCxnSpPr>
          <p:spPr>
            <a:xfrm>
              <a:off x="5018538" y="2436564"/>
              <a:ext cx="212114" cy="5392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599017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072" y="889605"/>
            <a:ext cx="6685660" cy="3717764"/>
          </a:xfrm>
        </p:spPr>
      </p:pic>
      <p:sp>
        <p:nvSpPr>
          <p:cNvPr id="33" name="Oval 32"/>
          <p:cNvSpPr/>
          <p:nvPr/>
        </p:nvSpPr>
        <p:spPr>
          <a:xfrm>
            <a:off x="2198240" y="1949426"/>
            <a:ext cx="99646" cy="9964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    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61539" y="1510749"/>
            <a:ext cx="39145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rgbClr val="D72728"/>
                </a:solidFill>
              </a:rPr>
              <a:t>4Ce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2"/>
          <a:stretch/>
        </p:blipFill>
        <p:spPr>
          <a:xfrm>
            <a:off x="382902" y="4009697"/>
            <a:ext cx="6760833" cy="1974650"/>
          </a:xfrm>
          <a:prstGeom prst="rect">
            <a:avLst/>
          </a:prstGeom>
          <a:solidFill>
            <a:schemeClr val="bg1"/>
          </a:solidFill>
        </p:spPr>
      </p:pic>
      <p:cxnSp>
        <p:nvCxnSpPr>
          <p:cNvPr id="9" name="Straight Connector 8"/>
          <p:cNvCxnSpPr/>
          <p:nvPr/>
        </p:nvCxnSpPr>
        <p:spPr>
          <a:xfrm flipH="1">
            <a:off x="1112488" y="1276690"/>
            <a:ext cx="5896707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2253" y="1138190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4.1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55653" y="4134679"/>
            <a:ext cx="1733550" cy="406400"/>
          </a:xfrm>
          <a:prstGeom prst="rect">
            <a:avLst/>
          </a:prstGeom>
          <a:solidFill>
            <a:srgbClr val="5B9BD5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374303" y="4542669"/>
            <a:ext cx="2692400" cy="406400"/>
          </a:xfrm>
          <a:prstGeom prst="rect">
            <a:avLst/>
          </a:prstGeom>
          <a:solidFill>
            <a:srgbClr val="5B9BD5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5121183" y="4158726"/>
            <a:ext cx="10032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Charging =1C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11233" y="4607369"/>
            <a:ext cx="12597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Discharging = -1C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7511" y="786630"/>
            <a:ext cx="3577541" cy="2593384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1333862" y="5057312"/>
            <a:ext cx="12597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820E"/>
                </a:solidFill>
              </a:rPr>
              <a:t>Discharging = -2C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3727" y="3853208"/>
            <a:ext cx="3581325" cy="2611274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25" name="Oval 24"/>
          <p:cNvSpPr/>
          <p:nvPr/>
        </p:nvSpPr>
        <p:spPr>
          <a:xfrm>
            <a:off x="1324480" y="1088366"/>
            <a:ext cx="99646" cy="9964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     </a:t>
            </a:r>
          </a:p>
        </p:txBody>
      </p:sp>
      <p:sp>
        <p:nvSpPr>
          <p:cNvPr id="26" name="Oval 25"/>
          <p:cNvSpPr/>
          <p:nvPr/>
        </p:nvSpPr>
        <p:spPr>
          <a:xfrm>
            <a:off x="1728340" y="3732506"/>
            <a:ext cx="99646" cy="9964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     </a:t>
            </a:r>
          </a:p>
        </p:txBody>
      </p:sp>
      <p:sp>
        <p:nvSpPr>
          <p:cNvPr id="27" name="Oval 26"/>
          <p:cNvSpPr/>
          <p:nvPr/>
        </p:nvSpPr>
        <p:spPr>
          <a:xfrm>
            <a:off x="4029580" y="3823946"/>
            <a:ext cx="99646" cy="9964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     </a:t>
            </a:r>
          </a:p>
        </p:txBody>
      </p:sp>
      <p:sp>
        <p:nvSpPr>
          <p:cNvPr id="28" name="Oval 27"/>
          <p:cNvSpPr/>
          <p:nvPr/>
        </p:nvSpPr>
        <p:spPr>
          <a:xfrm>
            <a:off x="4494400" y="2559026"/>
            <a:ext cx="99646" cy="9964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     </a:t>
            </a:r>
          </a:p>
        </p:txBody>
      </p:sp>
      <p:sp>
        <p:nvSpPr>
          <p:cNvPr id="29" name="Oval 28"/>
          <p:cNvSpPr/>
          <p:nvPr/>
        </p:nvSpPr>
        <p:spPr>
          <a:xfrm>
            <a:off x="6239380" y="1248386"/>
            <a:ext cx="99646" cy="9964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     </a:t>
            </a:r>
          </a:p>
        </p:txBody>
      </p:sp>
      <p:sp>
        <p:nvSpPr>
          <p:cNvPr id="30" name="Oval 29"/>
          <p:cNvSpPr/>
          <p:nvPr/>
        </p:nvSpPr>
        <p:spPr>
          <a:xfrm>
            <a:off x="6704200" y="1545566"/>
            <a:ext cx="99646" cy="9964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     </a:t>
            </a:r>
          </a:p>
        </p:txBody>
      </p:sp>
      <p:sp>
        <p:nvSpPr>
          <p:cNvPr id="31" name="Oval 30"/>
          <p:cNvSpPr/>
          <p:nvPr/>
        </p:nvSpPr>
        <p:spPr>
          <a:xfrm>
            <a:off x="3621910" y="1530326"/>
            <a:ext cx="99646" cy="9964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     </a:t>
            </a:r>
          </a:p>
        </p:txBody>
      </p:sp>
      <p:sp>
        <p:nvSpPr>
          <p:cNvPr id="32" name="Oval 31"/>
          <p:cNvSpPr/>
          <p:nvPr/>
        </p:nvSpPr>
        <p:spPr>
          <a:xfrm>
            <a:off x="3168520" y="1240766"/>
            <a:ext cx="99646" cy="9964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     </a:t>
            </a:r>
          </a:p>
        </p:txBody>
      </p:sp>
      <p:grpSp>
        <p:nvGrpSpPr>
          <p:cNvPr id="125" name="Group 124"/>
          <p:cNvGrpSpPr/>
          <p:nvPr/>
        </p:nvGrpSpPr>
        <p:grpSpPr>
          <a:xfrm>
            <a:off x="6088850" y="3178278"/>
            <a:ext cx="615350" cy="675396"/>
            <a:chOff x="6022783" y="3432194"/>
            <a:chExt cx="615350" cy="675396"/>
          </a:xfrm>
        </p:grpSpPr>
        <p:cxnSp>
          <p:nvCxnSpPr>
            <p:cNvPr id="35" name="Straight Connector 34"/>
            <p:cNvCxnSpPr/>
            <p:nvPr/>
          </p:nvCxnSpPr>
          <p:spPr>
            <a:xfrm>
              <a:off x="6022783" y="3973402"/>
              <a:ext cx="304995" cy="0"/>
            </a:xfrm>
            <a:prstGeom prst="line">
              <a:avLst/>
            </a:prstGeom>
            <a:ln w="28575">
              <a:solidFill>
                <a:srgbClr val="DE515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6022783" y="3836632"/>
              <a:ext cx="304995" cy="0"/>
            </a:xfrm>
            <a:prstGeom prst="line">
              <a:avLst/>
            </a:prstGeom>
            <a:ln w="28575">
              <a:solidFill>
                <a:srgbClr val="3BA7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6022783" y="3699863"/>
              <a:ext cx="304995" cy="0"/>
            </a:xfrm>
            <a:prstGeom prst="line">
              <a:avLst/>
            </a:prstGeom>
            <a:ln w="28575">
              <a:solidFill>
                <a:srgbClr val="FF820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6022783" y="3563094"/>
              <a:ext cx="304995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/>
            <p:cNvSpPr txBox="1"/>
            <p:nvPr/>
          </p:nvSpPr>
          <p:spPr>
            <a:xfrm>
              <a:off x="6272327" y="3432194"/>
              <a:ext cx="36580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-1C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272327" y="3577450"/>
              <a:ext cx="36580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-2C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272327" y="3706037"/>
              <a:ext cx="36580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-3C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272327" y="3853674"/>
              <a:ext cx="36580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-4C</a:t>
              </a: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1075796" y="797485"/>
            <a:ext cx="6527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rgbClr val="7030A0"/>
                </a:solidFill>
              </a:rPr>
              <a:t>1Ca/4Ca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81272" y="3871199"/>
            <a:ext cx="39626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accent5"/>
                </a:solidFill>
              </a:rPr>
              <a:t>1Cb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7757" y="2634249"/>
            <a:ext cx="38023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rgbClr val="FF820E"/>
                </a:solidFill>
              </a:rPr>
              <a:t>1Cc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4471" y="1055138"/>
            <a:ext cx="39626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rgbClr val="2CA02C"/>
                </a:solidFill>
              </a:rPr>
              <a:t>1Cd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34394" y="1587838"/>
            <a:ext cx="39145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rgbClr val="D72728"/>
                </a:solidFill>
              </a:rPr>
              <a:t>1Ce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65998" y="3794286"/>
            <a:ext cx="39626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accent5"/>
                </a:solidFill>
              </a:rPr>
              <a:t>4Cb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41324" y="1991477"/>
            <a:ext cx="38023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rgbClr val="FF820E"/>
                </a:solidFill>
              </a:rPr>
              <a:t>4Cc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59590" y="1063107"/>
            <a:ext cx="39626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rgbClr val="2CA02C"/>
                </a:solidFill>
              </a:rPr>
              <a:t>4Cd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59704" y="3956723"/>
            <a:ext cx="38985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rgbClr val="7030A0"/>
                </a:solidFill>
              </a:rPr>
              <a:t>4Ca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59703" y="1099481"/>
            <a:ext cx="38985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rgbClr val="7030A0"/>
                </a:solidFill>
              </a:rPr>
              <a:t>1Ca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38127" y="2778268"/>
            <a:ext cx="39626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accent5"/>
                </a:solidFill>
              </a:rPr>
              <a:t>1Cb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88888" y="5465724"/>
            <a:ext cx="39626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accent5"/>
                </a:solidFill>
              </a:rPr>
              <a:t>4Cb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38127" y="5073187"/>
            <a:ext cx="38023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rgbClr val="FF820E"/>
                </a:solidFill>
              </a:rPr>
              <a:t>4Cc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38127" y="2646611"/>
            <a:ext cx="38023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rgbClr val="FF820E"/>
                </a:solidFill>
              </a:rPr>
              <a:t>1Cc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38127" y="4419657"/>
            <a:ext cx="39626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rgbClr val="2CA02C"/>
                </a:solidFill>
              </a:rPr>
              <a:t>4Cd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46364" y="1545939"/>
            <a:ext cx="39626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rgbClr val="2CA02C"/>
                </a:solidFill>
              </a:rPr>
              <a:t>1Cd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40745" y="4518783"/>
            <a:ext cx="39145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rgbClr val="D72728"/>
                </a:solidFill>
              </a:rPr>
              <a:t>4Ce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51172" y="1673364"/>
            <a:ext cx="39145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rgbClr val="D72728"/>
                </a:solidFill>
              </a:rPr>
              <a:t>1Ce</a:t>
            </a:r>
          </a:p>
        </p:txBody>
      </p:sp>
      <p:grpSp>
        <p:nvGrpSpPr>
          <p:cNvPr id="70" name="Group 69"/>
          <p:cNvGrpSpPr/>
          <p:nvPr/>
        </p:nvGrpSpPr>
        <p:grpSpPr>
          <a:xfrm>
            <a:off x="10101130" y="5513250"/>
            <a:ext cx="1020035" cy="402197"/>
            <a:chOff x="10101130" y="5522775"/>
            <a:chExt cx="1020035" cy="402197"/>
          </a:xfrm>
        </p:grpSpPr>
        <p:cxnSp>
          <p:nvCxnSpPr>
            <p:cNvPr id="65" name="Straight Connector 64"/>
            <p:cNvCxnSpPr/>
            <p:nvPr/>
          </p:nvCxnSpPr>
          <p:spPr>
            <a:xfrm>
              <a:off x="10101130" y="5804791"/>
              <a:ext cx="48449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10101130" y="5640033"/>
              <a:ext cx="484492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/>
            <p:cNvSpPr txBox="1"/>
            <p:nvPr/>
          </p:nvSpPr>
          <p:spPr>
            <a:xfrm>
              <a:off x="10519718" y="5671056"/>
              <a:ext cx="60144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Surface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10519718" y="5522775"/>
              <a:ext cx="55335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Center</a:t>
              </a:r>
            </a:p>
          </p:txBody>
        </p:sp>
      </p:grpSp>
      <p:grpSp>
        <p:nvGrpSpPr>
          <p:cNvPr id="71" name="Group 70"/>
          <p:cNvGrpSpPr/>
          <p:nvPr/>
        </p:nvGrpSpPr>
        <p:grpSpPr>
          <a:xfrm>
            <a:off x="10380053" y="2600206"/>
            <a:ext cx="1020035" cy="402197"/>
            <a:chOff x="10101130" y="5522775"/>
            <a:chExt cx="1020035" cy="402197"/>
          </a:xfrm>
        </p:grpSpPr>
        <p:cxnSp>
          <p:nvCxnSpPr>
            <p:cNvPr id="72" name="Straight Connector 71"/>
            <p:cNvCxnSpPr/>
            <p:nvPr/>
          </p:nvCxnSpPr>
          <p:spPr>
            <a:xfrm>
              <a:off x="10101130" y="5804791"/>
              <a:ext cx="48449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>
              <a:off x="10101130" y="5640033"/>
              <a:ext cx="484492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/>
            <p:cNvSpPr txBox="1"/>
            <p:nvPr/>
          </p:nvSpPr>
          <p:spPr>
            <a:xfrm>
              <a:off x="10519718" y="5671056"/>
              <a:ext cx="60144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Surface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10519718" y="5522775"/>
              <a:ext cx="55335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Center</a:t>
              </a:r>
            </a:p>
          </p:txBody>
        </p:sp>
      </p:grpSp>
      <p:sp>
        <p:nvSpPr>
          <p:cNvPr id="76" name="TextBox 75"/>
          <p:cNvSpPr txBox="1"/>
          <p:nvPr/>
        </p:nvSpPr>
        <p:spPr>
          <a:xfrm>
            <a:off x="3358285" y="4158726"/>
            <a:ext cx="10032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820E"/>
                </a:solidFill>
              </a:rPr>
              <a:t>Charging =1C</a:t>
            </a:r>
          </a:p>
        </p:txBody>
      </p:sp>
      <p:sp>
        <p:nvSpPr>
          <p:cNvPr id="77" name="Slide Number Placeholder 7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A209-9D9F-4360-B47F-B96023C179CA}" type="slidenum">
              <a:rPr lang="en-US" smtClean="0"/>
              <a:t>21</a:t>
            </a:fld>
            <a:endParaRPr lang="en-US"/>
          </a:p>
        </p:txBody>
      </p:sp>
      <p:sp>
        <p:nvSpPr>
          <p:cNvPr id="78" name="TextBox 77"/>
          <p:cNvSpPr txBox="1"/>
          <p:nvPr/>
        </p:nvSpPr>
        <p:spPr>
          <a:xfrm>
            <a:off x="7930941" y="440054"/>
            <a:ext cx="1642566" cy="338554"/>
          </a:xfrm>
          <a:prstGeom prst="rect">
            <a:avLst/>
          </a:prstGeom>
          <a:solidFill>
            <a:srgbClr val="0070C0"/>
          </a:solidFill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Discharging = -1C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937291" y="3507104"/>
            <a:ext cx="1642566" cy="338554"/>
          </a:xfrm>
          <a:prstGeom prst="rect">
            <a:avLst/>
          </a:prstGeom>
          <a:solidFill>
            <a:srgbClr val="D72728"/>
          </a:solidFill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Discharging = -4C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2253" y="5690238"/>
            <a:ext cx="6477622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During charging/discharging period, Li concentration distribution in the electrode particles widens as shown in the right figures.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Its distribution range shrinks in the relaxation period.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 expansion/shrinkage gets enhanced by increasing discharging rate from 1C to 4C.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At higher discharging rate, the discharging capacity is reduced as well as the charging capacity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 relaxation potential after discharge increases with discharging rate.  </a:t>
            </a:r>
          </a:p>
        </p:txBody>
      </p:sp>
      <p:sp>
        <p:nvSpPr>
          <p:cNvPr id="81" name="Title 1"/>
          <p:cNvSpPr>
            <a:spLocks noGrp="1"/>
          </p:cNvSpPr>
          <p:nvPr>
            <p:ph type="title"/>
          </p:nvPr>
        </p:nvSpPr>
        <p:spPr>
          <a:xfrm>
            <a:off x="823684" y="161925"/>
            <a:ext cx="6758215" cy="970189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Discharging (1/2/3/4C) + Charging (1C)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2234386" y="1463124"/>
            <a:ext cx="97028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>
            <a:off x="4555156" y="3955083"/>
            <a:ext cx="1734047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>
            <a:off x="2469971" y="2118435"/>
            <a:ext cx="1229995" cy="836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/>
          <p:nvPr/>
        </p:nvCxnSpPr>
        <p:spPr>
          <a:xfrm>
            <a:off x="3108107" y="3577450"/>
            <a:ext cx="1495464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4622621" y="1587838"/>
            <a:ext cx="0" cy="258742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 flipV="1">
            <a:off x="3089096" y="2519653"/>
            <a:ext cx="0" cy="165561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>
            <a:off x="6289496" y="1567589"/>
            <a:ext cx="0" cy="260767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/>
          <p:nvPr/>
        </p:nvCxnSpPr>
        <p:spPr>
          <a:xfrm>
            <a:off x="2250896" y="1415189"/>
            <a:ext cx="0" cy="27193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>
            <a:off x="3708221" y="1645665"/>
            <a:ext cx="0" cy="59972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>
            <a:stCxn id="47" idx="0"/>
          </p:cNvCxnSpPr>
          <p:nvPr/>
        </p:nvCxnSpPr>
        <p:spPr>
          <a:xfrm>
            <a:off x="4537873" y="2634249"/>
            <a:ext cx="6350" cy="154101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/>
          <p:cNvSpPr txBox="1"/>
          <p:nvPr/>
        </p:nvSpPr>
        <p:spPr>
          <a:xfrm>
            <a:off x="5241682" y="3783710"/>
            <a:ext cx="59182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2303 sec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212930" y="3404757"/>
            <a:ext cx="59182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2032 sec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069759" y="2072698"/>
            <a:ext cx="59182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1627 sec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260134" y="1291648"/>
            <a:ext cx="59182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1256 sec</a:t>
            </a:r>
          </a:p>
        </p:txBody>
      </p:sp>
    </p:spTree>
    <p:extLst>
      <p:ext uri="{BB962C8B-B14F-4D97-AF65-F5344CB8AC3E}">
        <p14:creationId xmlns:p14="http://schemas.microsoft.com/office/powerpoint/2010/main" val="1329721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A209-9D9F-4360-B47F-B96023C179CA}" type="slidenum">
              <a:rPr lang="en-US" smtClean="0"/>
              <a:t>22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327025" y="1184177"/>
            <a:ext cx="5331691" cy="5239510"/>
            <a:chOff x="393700" y="1308002"/>
            <a:chExt cx="5331691" cy="5239510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6373" y="1308002"/>
              <a:ext cx="5179018" cy="3776210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556" r="2277"/>
            <a:stretch/>
          </p:blipFill>
          <p:spPr>
            <a:xfrm>
              <a:off x="393700" y="4504865"/>
              <a:ext cx="5232400" cy="2042647"/>
            </a:xfrm>
            <a:prstGeom prst="rect">
              <a:avLst/>
            </a:prstGeom>
            <a:solidFill>
              <a:schemeClr val="bg1"/>
            </a:solidFill>
          </p:spPr>
        </p:pic>
      </p:grpSp>
      <p:cxnSp>
        <p:nvCxnSpPr>
          <p:cNvPr id="10" name="Straight Connector 9"/>
          <p:cNvCxnSpPr/>
          <p:nvPr/>
        </p:nvCxnSpPr>
        <p:spPr>
          <a:xfrm flipH="1">
            <a:off x="1189297" y="1454406"/>
            <a:ext cx="4211378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417413" y="3252362"/>
            <a:ext cx="81437" cy="8143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     </a:t>
            </a:r>
          </a:p>
        </p:txBody>
      </p:sp>
      <p:sp>
        <p:nvSpPr>
          <p:cNvPr id="13" name="Oval 12"/>
          <p:cNvSpPr/>
          <p:nvPr/>
        </p:nvSpPr>
        <p:spPr>
          <a:xfrm>
            <a:off x="3842863" y="2693562"/>
            <a:ext cx="81437" cy="81437"/>
          </a:xfrm>
          <a:prstGeom prst="ellipse">
            <a:avLst/>
          </a:prstGeom>
          <a:solidFill>
            <a:srgbClr val="BFE3BF"/>
          </a:solidFill>
          <a:ln>
            <a:solidFill>
              <a:srgbClr val="39A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     </a:t>
            </a:r>
          </a:p>
        </p:txBody>
      </p:sp>
      <p:sp>
        <p:nvSpPr>
          <p:cNvPr id="14" name="Oval 13"/>
          <p:cNvSpPr/>
          <p:nvPr/>
        </p:nvSpPr>
        <p:spPr>
          <a:xfrm>
            <a:off x="4103213" y="2223662"/>
            <a:ext cx="81437" cy="81437"/>
          </a:xfrm>
          <a:prstGeom prst="ellipse">
            <a:avLst/>
          </a:prstGeom>
          <a:solidFill>
            <a:srgbClr val="FFDAB9"/>
          </a:solidFill>
          <a:ln>
            <a:solidFill>
              <a:srgbClr val="FF95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     </a:t>
            </a:r>
          </a:p>
        </p:txBody>
      </p:sp>
      <p:sp>
        <p:nvSpPr>
          <p:cNvPr id="15" name="Oval 14"/>
          <p:cNvSpPr/>
          <p:nvPr/>
        </p:nvSpPr>
        <p:spPr>
          <a:xfrm>
            <a:off x="5163663" y="1798212"/>
            <a:ext cx="81437" cy="81437"/>
          </a:xfrm>
          <a:prstGeom prst="ellipse">
            <a:avLst/>
          </a:prstGeom>
          <a:solidFill>
            <a:srgbClr val="96BFDC"/>
          </a:solidFill>
          <a:ln>
            <a:solidFill>
              <a:srgbClr val="5497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   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4184" y="2774999"/>
            <a:ext cx="54694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rgbClr val="39A739"/>
                </a:solidFill>
              </a:rPr>
              <a:t>3C_CH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21221" y="2286626"/>
            <a:ext cx="54694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rgbClr val="FF820E"/>
                </a:solidFill>
              </a:rPr>
              <a:t>2C_CH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03087" y="1874214"/>
            <a:ext cx="54694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rgbClr val="0070C0"/>
                </a:solidFill>
              </a:rPr>
              <a:t>1C_CH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35421" y="3346499"/>
            <a:ext cx="63190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/>
              <a:t>1C_DCH</a:t>
            </a:r>
          </a:p>
        </p:txBody>
      </p:sp>
      <p:grpSp>
        <p:nvGrpSpPr>
          <p:cNvPr id="57" name="Group 56"/>
          <p:cNvGrpSpPr/>
          <p:nvPr/>
        </p:nvGrpSpPr>
        <p:grpSpPr>
          <a:xfrm>
            <a:off x="6436565" y="1530077"/>
            <a:ext cx="4455148" cy="3248410"/>
            <a:chOff x="6478034" y="2219325"/>
            <a:chExt cx="4455148" cy="3248410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78034" y="2219325"/>
              <a:ext cx="4455148" cy="32484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7339830" y="4634971"/>
              <a:ext cx="63190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1C_DCH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329438" y="4208944"/>
              <a:ext cx="546945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>
                  <a:solidFill>
                    <a:srgbClr val="39A739"/>
                  </a:solidFill>
                </a:rPr>
                <a:t>3C_CH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308658" y="3720572"/>
              <a:ext cx="546945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>
                  <a:solidFill>
                    <a:srgbClr val="FF820E"/>
                  </a:solidFill>
                </a:rPr>
                <a:t>2C_CH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428078" y="2882132"/>
              <a:ext cx="546945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>
                  <a:solidFill>
                    <a:srgbClr val="0070C0"/>
                  </a:solidFill>
                </a:rPr>
                <a:t>1C_CH</a:t>
              </a:r>
            </a:p>
          </p:txBody>
        </p:sp>
      </p:grpSp>
      <p:cxnSp>
        <p:nvCxnSpPr>
          <p:cNvPr id="27" name="Straight Arrow Connector 26"/>
          <p:cNvCxnSpPr/>
          <p:nvPr/>
        </p:nvCxnSpPr>
        <p:spPr>
          <a:xfrm>
            <a:off x="3294986" y="4634971"/>
            <a:ext cx="163145" cy="0"/>
          </a:xfrm>
          <a:prstGeom prst="straightConnector1">
            <a:avLst/>
          </a:prstGeom>
          <a:ln>
            <a:solidFill>
              <a:srgbClr val="2CA02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V="1">
            <a:off x="3294986" y="4957090"/>
            <a:ext cx="163145" cy="626"/>
          </a:xfrm>
          <a:prstGeom prst="straightConnector1">
            <a:avLst/>
          </a:prstGeom>
          <a:ln>
            <a:solidFill>
              <a:srgbClr val="FF820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>
            <a:off x="3575836" y="4634971"/>
            <a:ext cx="158348" cy="0"/>
          </a:xfrm>
          <a:prstGeom prst="straightConnector1">
            <a:avLst/>
          </a:prstGeom>
          <a:ln>
            <a:solidFill>
              <a:srgbClr val="2CA02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3858571" y="4957090"/>
            <a:ext cx="149085" cy="626"/>
          </a:xfrm>
          <a:prstGeom prst="straightConnector1">
            <a:avLst/>
          </a:prstGeom>
          <a:ln>
            <a:solidFill>
              <a:srgbClr val="FF820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3458131" y="5353050"/>
            <a:ext cx="144495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948244" y="4847322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763 sec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76781" y="4532997"/>
            <a:ext cx="5341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246 sec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07656" y="5233084"/>
            <a:ext cx="616732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2908 sec</a:t>
            </a:r>
          </a:p>
        </p:txBody>
      </p:sp>
      <p:sp>
        <p:nvSpPr>
          <p:cNvPr id="54" name="Title 1"/>
          <p:cNvSpPr>
            <a:spLocks noGrp="1"/>
          </p:cNvSpPr>
          <p:nvPr>
            <p:ph type="title"/>
          </p:nvPr>
        </p:nvSpPr>
        <p:spPr>
          <a:xfrm>
            <a:off x="823684" y="161925"/>
            <a:ext cx="6758215" cy="970189"/>
          </a:xfrm>
        </p:spPr>
        <p:txBody>
          <a:bodyPr>
            <a:normAutofit/>
          </a:bodyPr>
          <a:lstStyle/>
          <a:p>
            <a:r>
              <a:rPr lang="en-US" sz="3600" b="1" dirty="0"/>
              <a:t>Discharging (1C) + Charging (1/2/3C)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2723" y="1377090"/>
            <a:ext cx="3289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4.2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73419" y="4819503"/>
            <a:ext cx="4921754" cy="138499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 charging behavior is simulated at different charging rate.</a:t>
            </a:r>
          </a:p>
          <a:p>
            <a:r>
              <a:rPr lang="en-US" sz="1200" dirty="0"/>
              <a:t>At higher charging rate,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 cell reaches quickly the charging limit voltage (V</a:t>
            </a:r>
            <a:r>
              <a:rPr lang="en-US" sz="1200" baseline="-25000" dirty="0"/>
              <a:t>max</a:t>
            </a:r>
            <a:r>
              <a:rPr lang="en-US" sz="1200" dirty="0"/>
              <a:t> = 4.2v) and the charging time is shortened.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But, the amount of Li ions having transferred from cathode to anode electrode is reduced as shown in the right figure.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 discharging capacity will be dwindled.  </a:t>
            </a:r>
          </a:p>
        </p:txBody>
      </p:sp>
    </p:spTree>
    <p:extLst>
      <p:ext uri="{BB962C8B-B14F-4D97-AF65-F5344CB8AC3E}">
        <p14:creationId xmlns:p14="http://schemas.microsoft.com/office/powerpoint/2010/main" val="6913747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of R</a:t>
            </a:r>
            <a:r>
              <a:rPr lang="en-US" baseline="-25000" dirty="0"/>
              <a:t>SEI</a:t>
            </a:r>
            <a:r>
              <a:rPr lang="en-US" dirty="0"/>
              <a:t> (SEI resistance)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A209-9D9F-4360-B47F-B96023C179CA}" type="slidenum">
              <a:rPr lang="en-US" smtClean="0"/>
              <a:t>23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3" t="4744" r="1806" b="5914"/>
          <a:stretch/>
        </p:blipFill>
        <p:spPr>
          <a:xfrm>
            <a:off x="922776" y="4995718"/>
            <a:ext cx="4357521" cy="1586442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18" name="Group 17"/>
          <p:cNvGrpSpPr/>
          <p:nvPr/>
        </p:nvGrpSpPr>
        <p:grpSpPr>
          <a:xfrm>
            <a:off x="2482479" y="1926300"/>
            <a:ext cx="878694" cy="681553"/>
            <a:chOff x="4882780" y="3120140"/>
            <a:chExt cx="878694" cy="681553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5456479" y="3678372"/>
              <a:ext cx="304995" cy="0"/>
            </a:xfrm>
            <a:prstGeom prst="line">
              <a:avLst/>
            </a:prstGeom>
            <a:ln w="28575">
              <a:solidFill>
                <a:srgbClr val="3BA7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5456479" y="3541603"/>
              <a:ext cx="304995" cy="0"/>
            </a:xfrm>
            <a:prstGeom prst="line">
              <a:avLst/>
            </a:prstGeom>
            <a:ln w="28575">
              <a:solidFill>
                <a:srgbClr val="FF820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5456479" y="3404834"/>
              <a:ext cx="304995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5144048" y="3273934"/>
              <a:ext cx="35779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0.0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144048" y="3419190"/>
              <a:ext cx="35779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0.1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144048" y="3547777"/>
              <a:ext cx="35779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0.2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882780" y="3120140"/>
              <a:ext cx="86754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R</a:t>
              </a:r>
              <a:r>
                <a:rPr lang="en-US" sz="1000" b="1" baseline="-25000" dirty="0"/>
                <a:t>SEI</a:t>
              </a:r>
              <a:r>
                <a:rPr lang="en-US" sz="1000" b="1" dirty="0"/>
                <a:t> (</a:t>
              </a:r>
              <a:r>
                <a:rPr lang="en-US" sz="1000" b="1" dirty="0">
                  <a:sym typeface="Symbol" panose="05050102010706020507" pitchFamily="18" charset="2"/>
                </a:rPr>
                <a:t>m</a:t>
              </a:r>
              <a:r>
                <a:rPr lang="en-US" sz="1000" b="1" baseline="30000" dirty="0">
                  <a:sym typeface="Symbol" panose="05050102010706020507" pitchFamily="18" charset="2"/>
                </a:rPr>
                <a:t>2</a:t>
              </a:r>
              <a:r>
                <a:rPr lang="en-US" sz="1000" b="1" dirty="0">
                  <a:sym typeface="Symbol" panose="05050102010706020507" pitchFamily="18" charset="2"/>
                </a:rPr>
                <a:t>) =</a:t>
              </a:r>
              <a:endParaRPr lang="en-US" sz="1000" b="1" dirty="0"/>
            </a:p>
          </p:txBody>
        </p:sp>
      </p:grpSp>
      <p:pic>
        <p:nvPicPr>
          <p:cNvPr id="22" name="Pictur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150" y="1690688"/>
            <a:ext cx="4309301" cy="3142067"/>
          </a:xfrm>
          <a:prstGeom prst="rect">
            <a:avLst/>
          </a:prstGeom>
        </p:spPr>
      </p:pic>
      <p:cxnSp>
        <p:nvCxnSpPr>
          <p:cNvPr id="24" name="Straight Connector 23"/>
          <p:cNvCxnSpPr/>
          <p:nvPr/>
        </p:nvCxnSpPr>
        <p:spPr>
          <a:xfrm>
            <a:off x="5076190" y="4152900"/>
            <a:ext cx="0" cy="146304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4855210" y="4152900"/>
            <a:ext cx="0" cy="146304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497070" y="4152900"/>
            <a:ext cx="0" cy="146304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3157220" y="4191000"/>
            <a:ext cx="0" cy="146304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1709420" y="4241800"/>
            <a:ext cx="0" cy="146304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286340" y="5053875"/>
            <a:ext cx="4921754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 effect of SEI resistance on cell capacity is studied by simulation.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As the solid electrolyte film layer grows, cell’s internal resistance grows.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Cell voltage change at the start of discharge/charge increases with higher SEI resistivity.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As SEI resistivity increases, the time to reach charging limit voltage gets shorter and charging /discharging capacity is reduced..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2350" y="1414645"/>
            <a:ext cx="3047731" cy="285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0030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A209-9D9F-4360-B47F-B96023C179CA}" type="slidenum">
              <a:rPr lang="en-US" smtClean="0"/>
              <a:t>24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981075" y="2225595"/>
            <a:ext cx="10515600" cy="381960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Physics based Li-ion cell model is developed successfully.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The model is verified by comparison with test data.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Mass and charge transfer with electrochemical reactions are well analyzed.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The simulation model will be applied to analyzing cell performance issues such as capacity fade and impedance growth.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The simulation tool developed is able to deploy freely to other battery engineers</a:t>
            </a:r>
          </a:p>
        </p:txBody>
      </p:sp>
    </p:spTree>
    <p:extLst>
      <p:ext uri="{BB962C8B-B14F-4D97-AF65-F5344CB8AC3E}">
        <p14:creationId xmlns:p14="http://schemas.microsoft.com/office/powerpoint/2010/main" val="2671304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27432</TotalTime>
  <Words>2038</Words>
  <Application>Microsoft Office PowerPoint</Application>
  <PresentationFormat>Widescreen</PresentationFormat>
  <Paragraphs>350</Paragraphs>
  <Slides>24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8" baseType="lpstr">
      <vt:lpstr>ＭＳ Ｐゴシック</vt:lpstr>
      <vt:lpstr>Abadi</vt:lpstr>
      <vt:lpstr>Arial</vt:lpstr>
      <vt:lpstr>Arial Narrow</vt:lpstr>
      <vt:lpstr>Berlin Sans FB Demi</vt:lpstr>
      <vt:lpstr>Bookman Old Style</vt:lpstr>
      <vt:lpstr>Calibri</vt:lpstr>
      <vt:lpstr>Calibri Light</vt:lpstr>
      <vt:lpstr>Cambria Math</vt:lpstr>
      <vt:lpstr>Lato</vt:lpstr>
      <vt:lpstr>Symbol</vt:lpstr>
      <vt:lpstr>Times New Roman</vt:lpstr>
      <vt:lpstr>Wingdings</vt:lpstr>
      <vt:lpstr>Office Theme</vt:lpstr>
      <vt:lpstr>Li- ion modeling physics-based</vt:lpstr>
      <vt:lpstr>Design of Li ion battery simulation Model</vt:lpstr>
      <vt:lpstr>Li-ion battery (LixC6 | Li yMn2O4)</vt:lpstr>
      <vt:lpstr>Physics Based Model of Li-ion battery</vt:lpstr>
      <vt:lpstr>PowerPoint Presentation</vt:lpstr>
      <vt:lpstr>Electrochemical Reaction</vt:lpstr>
      <vt:lpstr>Spectral Element Method (SEM)</vt:lpstr>
      <vt:lpstr>PowerPoint Presentation</vt:lpstr>
      <vt:lpstr>Global  Matrix (G ) in SEM</vt:lpstr>
      <vt:lpstr>Solving the system of Non-linear Algebraic Equations</vt:lpstr>
      <vt:lpstr>PowerPoint Presentation</vt:lpstr>
      <vt:lpstr>Li-ion battery Simulator &amp; its Postprocessor</vt:lpstr>
      <vt:lpstr>Properties and Parameters </vt:lpstr>
      <vt:lpstr>Comparison Simulation Results with Experiments</vt:lpstr>
      <vt:lpstr>Potential Distribution in Discharging</vt:lpstr>
      <vt:lpstr>Potential Distribution in Electrolyte</vt:lpstr>
      <vt:lpstr>Li concentration distribution  ( 1C discharging)</vt:lpstr>
      <vt:lpstr>Electrochemical Reactions</vt:lpstr>
      <vt:lpstr>Li+ transfer in Electrodes, when cell is discharged to Vout = 2.5V</vt:lpstr>
      <vt:lpstr>PowerPoint Presentation</vt:lpstr>
      <vt:lpstr>Discharging (1/2/3/4C) + Charging (1C)</vt:lpstr>
      <vt:lpstr>Discharging (1C) + Charging (1/2/3C)</vt:lpstr>
      <vt:lpstr>Effect of RSEI (SEI resistance)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dongm</cp:lastModifiedBy>
  <cp:revision>260</cp:revision>
  <dcterms:created xsi:type="dcterms:W3CDTF">2020-05-13T05:48:19Z</dcterms:created>
  <dcterms:modified xsi:type="dcterms:W3CDTF">2025-10-27T00:44:59Z</dcterms:modified>
</cp:coreProperties>
</file>