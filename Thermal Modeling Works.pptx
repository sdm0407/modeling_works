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00" r:id="rId3"/>
    <p:sldId id="295" r:id="rId4"/>
    <p:sldId id="297" r:id="rId5"/>
    <p:sldId id="296" r:id="rId6"/>
    <p:sldId id="301" r:id="rId7"/>
    <p:sldId id="298" r:id="rId8"/>
    <p:sldId id="299" r:id="rId9"/>
    <p:sldId id="302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AE324-A5D3-43D7-88F9-7CFD77D7CC9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9B070-4E7F-4CBF-89E2-308406190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25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9EA9-2D0B-C5B0-194F-A764F59DA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065C3-36A5-6101-59C2-B68704254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5A9AA-AA32-1723-5B2F-AFD6D53A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DFF72-8D48-0C65-D518-B2F59D88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96367-5E91-C21A-96D7-C2F6E6F6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8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13DA-8378-24A1-AF5B-B7C9B08E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77997-FCCA-D93D-332F-971335AE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3B40-1EAB-7A13-F506-DFEFAC75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0D453-C05A-1F1A-B91D-24FF1C16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F718F-60D3-4E83-77C5-6D020B38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5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5386-BC1B-2ED6-AFB1-64EC6BAB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16DBA-EDE8-9558-3FDD-B6F599D8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E6ED-FF74-9912-C294-6DD056FF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F3612-7A0D-B63A-1CB8-41B19740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A0D7-C24F-4681-DBFB-F591DF07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D15B-4253-6DC4-8526-AFDA3005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D152D-69B6-EDF9-91DC-5B4FF6CFE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1953A-EB44-FF6D-B12E-75D38DD7D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AB4F6-291C-474D-34EC-A062AEFD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164C0-4DAA-6ECD-188A-823DA7FC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9AEEE-CE43-D22D-CCAA-A708AAD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5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D75F-DFDC-7935-02B6-6D00EB66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65AEC-BA15-B411-849D-5452FA79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C1FE-F1CD-8A13-635F-51208288F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155A6-CB0D-DD7D-E791-9F9D8C71E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5ECE1-227E-F4E0-8424-1CC219B71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6F9C-6C84-E707-AAC9-EAA7236D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11FCF-1D52-BE8E-9C36-C7FE58C1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547A4-524B-7D04-3D2F-DF519925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7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F1FB-EB72-95A9-7531-4A7E9376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2E533-2972-C7C4-E77C-2CBEABEF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8756C-E670-BFFD-5B2E-FA80FCB2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D7C86-DC6C-1318-1460-6CE126E3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2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C5D3B8-F059-32B4-55C7-AB84AA73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10A08-686E-7D79-4FA3-BB4FADDB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9082A-82A1-E9D8-B155-C79E3FA6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4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5E38-0140-26D9-CDCA-BA4D6067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3B2E-9539-FDC2-C615-B653276C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7B4DE-0260-4892-1C2B-9B38CF5B1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9044-B4B5-D262-558A-EA38E82D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DCFA-D30E-9AC3-6749-CFE04140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F9674-DFDF-A0A9-8AFB-F3772722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7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3DF1-E69D-0027-CD69-657FCDE8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730A7-BBC2-B294-6946-767B0069B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18AEA-38AA-FF91-BD24-BCF6C56D2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EAE29-3869-AE06-1781-C32B6826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4A80A-DC95-FDB0-C78D-CDC4C407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572D5-306A-A16F-1BA8-FAC6730F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1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D10C-A37D-DB74-BC9D-41858F5FC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9EE9C-326C-B18C-53A6-A5551C4B5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68641-3D07-2217-7045-2FA3D382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6C7BC-22AA-7EA8-5282-E1AD10EC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6786-DEF6-21CB-BDBE-5494D14C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1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F4710C-A31B-3607-E4EA-E18A68B5A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28331-E890-B75B-8A95-7681F9035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6D668-7C75-2ACC-C830-D182FF7B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4346E-5284-885C-3391-CD25AC23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2CF9-7E5F-DCE5-4A4E-787F0E43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5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92287E-39A5-0748-9500-C116506AF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37B83-989A-6514-6DC2-17E6B671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FD8C5-B2F7-C152-CB4F-9F4497C67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9F1F1-6179-4B03-B251-56D1F8F0C385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CB1B-A94D-FFF3-BC39-0EE8B640F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52CA9-E135-8179-B96A-4CBB63CAA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3A478-1D54-4B21-A6ED-77AEA7263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2D61-3012-960D-84AC-C45868BBF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Thermal Modeling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29D01-0942-8B38-B107-995C5A29F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9144000" cy="685800"/>
          </a:xfrm>
        </p:spPr>
        <p:txBody>
          <a:bodyPr/>
          <a:lstStyle/>
          <a:p>
            <a:r>
              <a:rPr lang="en-US" dirty="0"/>
              <a:t>Dongmyung Suh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4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6977EC-C28D-64F6-C5D7-D5213ACD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062" y="292213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Thermal CFD Analysis: Liquid Cooling Battery Package</a:t>
            </a:r>
          </a:p>
        </p:txBody>
      </p:sp>
    </p:spTree>
    <p:extLst>
      <p:ext uri="{BB962C8B-B14F-4D97-AF65-F5344CB8AC3E}">
        <p14:creationId xmlns:p14="http://schemas.microsoft.com/office/powerpoint/2010/main" val="266064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5028-767A-7844-D69F-2D9B4D101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" y="4095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Thermal CFD Analysis: Liquid Cooling Battery Package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E8424-E1FC-0567-46FF-5F3D06211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" y="4802780"/>
            <a:ext cx="3454774" cy="15703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BD08FD-11A9-17ED-860D-9ED0BA444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53" y="1735081"/>
            <a:ext cx="3365595" cy="21343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072C41-7862-FA2D-6EB8-2E163103833F}"/>
              </a:ext>
            </a:extLst>
          </p:cNvPr>
          <p:cNvSpPr txBox="1"/>
          <p:nvPr/>
        </p:nvSpPr>
        <p:spPr>
          <a:xfrm>
            <a:off x="869899" y="3836904"/>
            <a:ext cx="3543471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ATLAS(104kWh) Battery Package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891E3F-0B66-9449-140B-9B2D73C45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425" y="4760403"/>
            <a:ext cx="461890" cy="16551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ECB8ED2-AA35-0126-8AB3-D450221A9CC1}"/>
              </a:ext>
            </a:extLst>
          </p:cNvPr>
          <p:cNvGrpSpPr/>
          <p:nvPr/>
        </p:nvGrpSpPr>
        <p:grpSpPr>
          <a:xfrm>
            <a:off x="5145987" y="2358196"/>
            <a:ext cx="6585003" cy="3229759"/>
            <a:chOff x="234685" y="1036196"/>
            <a:chExt cx="6585003" cy="32297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9391A0-1FF2-92DA-0491-0A7C34B1B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00" y="1036196"/>
              <a:ext cx="5060022" cy="271090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CCC25E-F88B-E303-E3EE-F3A8963CC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11425" y="3002218"/>
              <a:ext cx="1668891" cy="1263737"/>
            </a:xfrm>
            <a:prstGeom prst="rect">
              <a:avLst/>
            </a:prstGeom>
            <a:ln w="28575">
              <a:solidFill>
                <a:srgbClr val="FF0000"/>
              </a:solidFill>
              <a:prstDash val="dash"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71BAFB-4BBF-C942-668E-76183A6660B7}"/>
                </a:ext>
              </a:extLst>
            </p:cNvPr>
            <p:cNvSpPr/>
            <p:nvPr/>
          </p:nvSpPr>
          <p:spPr>
            <a:xfrm>
              <a:off x="2235200" y="2811988"/>
              <a:ext cx="749300" cy="711200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9588C1-77CB-9C06-9BA3-D4BB0760BF36}"/>
                </a:ext>
              </a:extLst>
            </p:cNvPr>
            <p:cNvSpPr txBox="1"/>
            <p:nvPr/>
          </p:nvSpPr>
          <p:spPr>
            <a:xfrm>
              <a:off x="871648" y="3901598"/>
              <a:ext cx="352720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Battery Pack Module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A203B82-9F88-A468-F777-4EA6EB147C11}"/>
                </a:ext>
              </a:extLst>
            </p:cNvPr>
            <p:cNvCxnSpPr>
              <a:cxnSpLocks/>
            </p:cNvCxnSpPr>
            <p:nvPr/>
          </p:nvCxnSpPr>
          <p:spPr>
            <a:xfrm>
              <a:off x="2984500" y="3384688"/>
              <a:ext cx="1524000" cy="1385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CE423B-5650-492B-328B-947E24B21E7F}"/>
                </a:ext>
              </a:extLst>
            </p:cNvPr>
            <p:cNvSpPr txBox="1"/>
            <p:nvPr/>
          </p:nvSpPr>
          <p:spPr>
            <a:xfrm>
              <a:off x="4555115" y="3107689"/>
              <a:ext cx="18263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Total 20 million meshes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E7582B-7968-DCA6-AE0A-63348C811880}"/>
                </a:ext>
              </a:extLst>
            </p:cNvPr>
            <p:cNvSpPr txBox="1"/>
            <p:nvPr/>
          </p:nvSpPr>
          <p:spPr>
            <a:xfrm>
              <a:off x="4799263" y="1042873"/>
              <a:ext cx="2020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76 cells are connected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1553DE9-B435-DE5C-F075-0E57C77921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5885" y="1285364"/>
              <a:ext cx="1162320" cy="8730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8F2A5-65F6-0FA2-765D-554F4183D4D2}"/>
                </a:ext>
              </a:extLst>
            </p:cNvPr>
            <p:cNvSpPr txBox="1"/>
            <p:nvPr/>
          </p:nvSpPr>
          <p:spPr>
            <a:xfrm rot="1755519">
              <a:off x="234685" y="3222731"/>
              <a:ext cx="15717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Coolant in/outlet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9A4D13E6-3F32-B18A-011E-B3E17E6C28C4}"/>
                </a:ext>
              </a:extLst>
            </p:cNvPr>
            <p:cNvSpPr/>
            <p:nvPr/>
          </p:nvSpPr>
          <p:spPr>
            <a:xfrm rot="14339736">
              <a:off x="1081673" y="2893446"/>
              <a:ext cx="175704" cy="307777"/>
            </a:xfrm>
            <a:prstGeom prst="downArrow">
              <a:avLst/>
            </a:prstGeom>
            <a:solidFill>
              <a:schemeClr val="tx2">
                <a:lumMod val="50000"/>
                <a:lumOff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Down 14">
              <a:extLst>
                <a:ext uri="{FF2B5EF4-FFF2-40B4-BE49-F238E27FC236}">
                  <a16:creationId xmlns:a16="http://schemas.microsoft.com/office/drawing/2014/main" id="{6421A20A-ACC2-225F-C174-0B106C6DEEA9}"/>
                </a:ext>
              </a:extLst>
            </p:cNvPr>
            <p:cNvSpPr/>
            <p:nvPr/>
          </p:nvSpPr>
          <p:spPr>
            <a:xfrm rot="3589482">
              <a:off x="1436022" y="3046134"/>
              <a:ext cx="175704" cy="307777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8C9058-5354-2790-5981-542105B573C0}"/>
                </a:ext>
              </a:extLst>
            </p:cNvPr>
            <p:cNvSpPr txBox="1"/>
            <p:nvPr/>
          </p:nvSpPr>
          <p:spPr>
            <a:xfrm>
              <a:off x="1020541" y="1042873"/>
              <a:ext cx="24831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Cold-Plates for cooling cells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B2ED3BD-84C8-3B65-44CA-F8D8AD75B8C0}"/>
                </a:ext>
              </a:extLst>
            </p:cNvPr>
            <p:cNvCxnSpPr>
              <a:cxnSpLocks/>
            </p:cNvCxnSpPr>
            <p:nvPr/>
          </p:nvCxnSpPr>
          <p:spPr>
            <a:xfrm>
              <a:off x="1984917" y="1443749"/>
              <a:ext cx="277182" cy="583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C7BEFAB-36CC-C5B3-EEC7-2CFFBECFCEDB}"/>
                </a:ext>
              </a:extLst>
            </p:cNvPr>
            <p:cNvCxnSpPr>
              <a:cxnSpLocks/>
            </p:cNvCxnSpPr>
            <p:nvPr/>
          </p:nvCxnSpPr>
          <p:spPr>
            <a:xfrm>
              <a:off x="2601991" y="1350650"/>
              <a:ext cx="1144509" cy="15852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D2FF6E3-CC51-208D-CE69-6C9A64767BCA}"/>
              </a:ext>
            </a:extLst>
          </p:cNvPr>
          <p:cNvSpPr txBox="1"/>
          <p:nvPr/>
        </p:nvSpPr>
        <p:spPr>
          <a:xfrm>
            <a:off x="829645" y="6448482"/>
            <a:ext cx="35272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Thermal Analysis: Temperature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56696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1A0B27-C9D8-FB3F-7154-FDB933E6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0" y="3089188"/>
            <a:ext cx="4358303" cy="1981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C1BF9A-97D4-EA89-02E8-B1B68DA7E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959" y="4248844"/>
            <a:ext cx="3317150" cy="821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9FD9A-D7DF-B29F-7E73-F317ED9E0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155" y="2551888"/>
            <a:ext cx="3317150" cy="786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6EA59-3068-4D6D-0DB1-A31AE66C7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212" y="2559590"/>
            <a:ext cx="3317150" cy="778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226F3-9E2F-88C3-ECF7-8D256C978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4877" y="4248844"/>
            <a:ext cx="3317150" cy="782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3EE5AF-2548-8440-5E48-C959AD935492}"/>
              </a:ext>
            </a:extLst>
          </p:cNvPr>
          <p:cNvSpPr txBox="1"/>
          <p:nvPr/>
        </p:nvSpPr>
        <p:spPr>
          <a:xfrm>
            <a:off x="6648157" y="5757164"/>
            <a:ext cx="3705630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Temperature Distribution of Cells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211FF-B675-43A1-FA6B-6F741472ABFE}"/>
              </a:ext>
            </a:extLst>
          </p:cNvPr>
          <p:cNvSpPr txBox="1"/>
          <p:nvPr/>
        </p:nvSpPr>
        <p:spPr>
          <a:xfrm>
            <a:off x="7446170" y="2996022"/>
            <a:ext cx="75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Cell 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F16F6C-CBA9-815B-B967-E799E99F3EEB}"/>
              </a:ext>
            </a:extLst>
          </p:cNvPr>
          <p:cNvSpPr txBox="1"/>
          <p:nvPr/>
        </p:nvSpPr>
        <p:spPr>
          <a:xfrm>
            <a:off x="7446170" y="4677486"/>
            <a:ext cx="75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Cell 27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B81FB-6915-4571-3224-A335231F4310}"/>
              </a:ext>
            </a:extLst>
          </p:cNvPr>
          <p:cNvSpPr txBox="1"/>
          <p:nvPr/>
        </p:nvSpPr>
        <p:spPr>
          <a:xfrm>
            <a:off x="11042555" y="2979903"/>
            <a:ext cx="75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Cell 47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F0499B-61B4-1069-7ADF-B1E7084EA660}"/>
              </a:ext>
            </a:extLst>
          </p:cNvPr>
          <p:cNvSpPr txBox="1"/>
          <p:nvPr/>
        </p:nvSpPr>
        <p:spPr>
          <a:xfrm>
            <a:off x="11042555" y="4677486"/>
            <a:ext cx="75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Cell 67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00E199-2C6A-75C4-FAAB-C11F30448869}"/>
              </a:ext>
            </a:extLst>
          </p:cNvPr>
          <p:cNvSpPr txBox="1"/>
          <p:nvPr/>
        </p:nvSpPr>
        <p:spPr>
          <a:xfrm>
            <a:off x="838200" y="5532958"/>
            <a:ext cx="35272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Thermal Analysis: Temperature distribution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61EAB0-EF71-BE4A-ADAC-18BFC4161BBF}"/>
              </a:ext>
            </a:extLst>
          </p:cNvPr>
          <p:cNvCxnSpPr/>
          <p:nvPr/>
        </p:nvCxnSpPr>
        <p:spPr>
          <a:xfrm flipH="1" flipV="1">
            <a:off x="2038350" y="3429000"/>
            <a:ext cx="714375" cy="1248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8E0F75-9240-B9EC-205D-C9127AAB99DC}"/>
              </a:ext>
            </a:extLst>
          </p:cNvPr>
          <p:cNvSpPr txBox="1"/>
          <p:nvPr/>
        </p:nvSpPr>
        <p:spPr>
          <a:xfrm>
            <a:off x="1588078" y="3207663"/>
            <a:ext cx="596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Cell01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1B7512-FBED-C70C-DE8C-6AEF7974F9F3}"/>
              </a:ext>
            </a:extLst>
          </p:cNvPr>
          <p:cNvCxnSpPr/>
          <p:nvPr/>
        </p:nvCxnSpPr>
        <p:spPr>
          <a:xfrm flipH="1" flipV="1">
            <a:off x="2763663" y="3089188"/>
            <a:ext cx="714375" cy="1248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50D789-47D1-24AD-B2B3-8C48EA68A537}"/>
              </a:ext>
            </a:extLst>
          </p:cNvPr>
          <p:cNvSpPr txBox="1"/>
          <p:nvPr/>
        </p:nvSpPr>
        <p:spPr>
          <a:xfrm>
            <a:off x="2313391" y="2867851"/>
            <a:ext cx="5790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Cell27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C52B75-25FA-79FD-FCD1-1E5ADB855EEA}"/>
              </a:ext>
            </a:extLst>
          </p:cNvPr>
          <p:cNvCxnSpPr/>
          <p:nvPr/>
        </p:nvCxnSpPr>
        <p:spPr>
          <a:xfrm flipH="1" flipV="1">
            <a:off x="3372598" y="2714225"/>
            <a:ext cx="714375" cy="1248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C77D02-5E55-452C-8053-D7BB2DFAE8A5}"/>
              </a:ext>
            </a:extLst>
          </p:cNvPr>
          <p:cNvSpPr txBox="1"/>
          <p:nvPr/>
        </p:nvSpPr>
        <p:spPr>
          <a:xfrm>
            <a:off x="2922326" y="2492888"/>
            <a:ext cx="5790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Cell47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A9327C-7D27-9021-8BCE-282DDD470B23}"/>
              </a:ext>
            </a:extLst>
          </p:cNvPr>
          <p:cNvCxnSpPr/>
          <p:nvPr/>
        </p:nvCxnSpPr>
        <p:spPr>
          <a:xfrm flipH="1" flipV="1">
            <a:off x="3897211" y="2345594"/>
            <a:ext cx="714375" cy="1248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75770F-FFA6-5556-0390-E805A2B88E88}"/>
              </a:ext>
            </a:extLst>
          </p:cNvPr>
          <p:cNvSpPr txBox="1"/>
          <p:nvPr/>
        </p:nvSpPr>
        <p:spPr>
          <a:xfrm>
            <a:off x="3446939" y="2124257"/>
            <a:ext cx="5790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Cell67</a:t>
            </a:r>
          </a:p>
        </p:txBody>
      </p:sp>
    </p:spTree>
    <p:extLst>
      <p:ext uri="{BB962C8B-B14F-4D97-AF65-F5344CB8AC3E}">
        <p14:creationId xmlns:p14="http://schemas.microsoft.com/office/powerpoint/2010/main" val="149100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3406-F8E7-A010-2E38-212A4489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Thermal Behavior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D727A-302F-D2E2-3E7E-04C0D0914618}"/>
              </a:ext>
            </a:extLst>
          </p:cNvPr>
          <p:cNvSpPr txBox="1"/>
          <p:nvPr/>
        </p:nvSpPr>
        <p:spPr>
          <a:xfrm>
            <a:off x="931552" y="5198881"/>
            <a:ext cx="431768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Coolant Temperature Evolution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AB5AF-24CF-10DC-6259-196BDB806A19}"/>
              </a:ext>
            </a:extLst>
          </p:cNvPr>
          <p:cNvSpPr txBox="1"/>
          <p:nvPr/>
        </p:nvSpPr>
        <p:spPr>
          <a:xfrm>
            <a:off x="6942766" y="5198881"/>
            <a:ext cx="431768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Max. Temperature in Each Cell</a:t>
            </a:r>
          </a:p>
        </p:txBody>
      </p:sp>
      <p:pic>
        <p:nvPicPr>
          <p:cNvPr id="11" name="Picture 10" descr="A graph of colored lines&#10;&#10;AI-generated content may be incorrect.">
            <a:extLst>
              <a:ext uri="{FF2B5EF4-FFF2-40B4-BE49-F238E27FC236}">
                <a16:creationId xmlns:a16="http://schemas.microsoft.com/office/drawing/2014/main" id="{9C5B9076-9E41-1137-D109-6E3088AC7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485" y="1945375"/>
            <a:ext cx="4657963" cy="2957176"/>
          </a:xfrm>
          <a:prstGeom prst="rect">
            <a:avLst/>
          </a:prstGeom>
        </p:spPr>
      </p:pic>
      <p:pic>
        <p:nvPicPr>
          <p:cNvPr id="3" name="Picture 2" descr="A green line on a black background&#10;&#10;AI-generated content may be incorrect.">
            <a:extLst>
              <a:ext uri="{FF2B5EF4-FFF2-40B4-BE49-F238E27FC236}">
                <a16:creationId xmlns:a16="http://schemas.microsoft.com/office/drawing/2014/main" id="{108CE005-DF1A-C66A-EB6E-1F6DADE20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84" y="1945375"/>
            <a:ext cx="4657963" cy="295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0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06AB78E-E09F-0E8A-2AA6-251B36C6037F}"/>
              </a:ext>
            </a:extLst>
          </p:cNvPr>
          <p:cNvSpPr txBox="1">
            <a:spLocks/>
          </p:cNvSpPr>
          <p:nvPr/>
        </p:nvSpPr>
        <p:spPr>
          <a:xfrm>
            <a:off x="1180106" y="29019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Thermal System Modeling: HVAC of a vehicle Cabin </a:t>
            </a:r>
          </a:p>
        </p:txBody>
      </p:sp>
    </p:spTree>
    <p:extLst>
      <p:ext uri="{BB962C8B-B14F-4D97-AF65-F5344CB8AC3E}">
        <p14:creationId xmlns:p14="http://schemas.microsoft.com/office/powerpoint/2010/main" val="77578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EB258A-3F8B-9957-C014-4609682BD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720" y="1465302"/>
            <a:ext cx="3569417" cy="2419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180A29-18AC-084D-3A97-B96C6391900E}"/>
              </a:ext>
            </a:extLst>
          </p:cNvPr>
          <p:cNvSpPr txBox="1">
            <a:spLocks/>
          </p:cNvSpPr>
          <p:nvPr/>
        </p:nvSpPr>
        <p:spPr>
          <a:xfrm>
            <a:off x="838200" y="2700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Thermal System Modeling: HVAC of a vehicle Cabin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612D4-66DC-5C6F-E5DC-E2D7D5BCF722}"/>
              </a:ext>
            </a:extLst>
          </p:cNvPr>
          <p:cNvSpPr txBox="1"/>
          <p:nvPr/>
        </p:nvSpPr>
        <p:spPr>
          <a:xfrm>
            <a:off x="8621936" y="1341169"/>
            <a:ext cx="232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 Imposed drive cycle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2F0375-2190-C571-512E-33F827FB5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9" y="1649968"/>
            <a:ext cx="5410951" cy="4838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EC7322-DB3D-E4B4-EF48-4BD7A734F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537" y="4262376"/>
            <a:ext cx="3657600" cy="24521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B20F6A-0091-C4D0-0B51-3FC75DA90FB4}"/>
              </a:ext>
            </a:extLst>
          </p:cNvPr>
          <p:cNvSpPr txBox="1"/>
          <p:nvPr/>
        </p:nvSpPr>
        <p:spPr>
          <a:xfrm>
            <a:off x="7206384" y="4147471"/>
            <a:ext cx="448618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Evolution of the compressor rotary speed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3756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6C56-5B11-66D2-318B-D0CC1997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3CF14-0286-3983-8DFC-2E5E65323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03" y="2954588"/>
            <a:ext cx="3487775" cy="2379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0818CC-3747-433E-983F-3555E36ADF47}"/>
              </a:ext>
            </a:extLst>
          </p:cNvPr>
          <p:cNvSpPr txBox="1"/>
          <p:nvPr/>
        </p:nvSpPr>
        <p:spPr>
          <a:xfrm>
            <a:off x="916388" y="5421004"/>
            <a:ext cx="3353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Evolution of the cabin temperature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EB8216-2C9E-47AC-F908-CCD689490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598" y="2950649"/>
            <a:ext cx="3562226" cy="24703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2AEDCD-715E-0AEA-0D08-209717547FC0}"/>
              </a:ext>
            </a:extLst>
          </p:cNvPr>
          <p:cNvSpPr txBox="1"/>
          <p:nvPr/>
        </p:nvSpPr>
        <p:spPr>
          <a:xfrm>
            <a:off x="4269850" y="5482209"/>
            <a:ext cx="4005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Evolution of pressure at compressor inlet and outlet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582CA2-FA82-83D1-4CFD-47750ED8F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300" y="3165741"/>
            <a:ext cx="3615010" cy="23164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02E301-63A4-1537-B38B-18904661DF9D}"/>
              </a:ext>
            </a:extLst>
          </p:cNvPr>
          <p:cNvSpPr txBox="1"/>
          <p:nvPr/>
        </p:nvSpPr>
        <p:spPr>
          <a:xfrm>
            <a:off x="9569882" y="5482209"/>
            <a:ext cx="15857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Thermodynamic plot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1316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989459-CF44-53CB-102A-1B499BB27F0C}"/>
              </a:ext>
            </a:extLst>
          </p:cNvPr>
          <p:cNvSpPr txBox="1">
            <a:spLocks/>
          </p:cNvSpPr>
          <p:nvPr/>
        </p:nvSpPr>
        <p:spPr>
          <a:xfrm>
            <a:off x="749800" y="32579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1D Thermal Modeling for Thermal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1090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40A40-2CD3-EB9B-0067-A5C98305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74" y="4511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1D Thermal Modeling for Thermal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AE54B-A0C1-2CA5-1F49-FB7FFFD3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3564"/>
            <a:ext cx="4917141" cy="2830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9D1A72-068C-EA3A-12B4-373B7A125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865" y="2361045"/>
            <a:ext cx="4056027" cy="3270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33EF4B-1355-25C8-95B4-E133BC790512}"/>
              </a:ext>
            </a:extLst>
          </p:cNvPr>
          <p:cNvSpPr txBox="1"/>
          <p:nvPr/>
        </p:nvSpPr>
        <p:spPr>
          <a:xfrm>
            <a:off x="8772862" y="5632034"/>
            <a:ext cx="1747594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Amesim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98A00-8900-D320-7D7F-455CD441A521}"/>
              </a:ext>
            </a:extLst>
          </p:cNvPr>
          <p:cNvSpPr txBox="1"/>
          <p:nvPr/>
        </p:nvSpPr>
        <p:spPr>
          <a:xfrm>
            <a:off x="2316117" y="5632034"/>
            <a:ext cx="1961306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System Diagram</a:t>
            </a:r>
          </a:p>
        </p:txBody>
      </p:sp>
    </p:spTree>
    <p:extLst>
      <p:ext uri="{BB962C8B-B14F-4D97-AF65-F5344CB8AC3E}">
        <p14:creationId xmlns:p14="http://schemas.microsoft.com/office/powerpoint/2010/main" val="187179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145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Thermal Modeling Works</vt:lpstr>
      <vt:lpstr>Thermal CFD Analysis: Liquid Cooling Battery Package</vt:lpstr>
      <vt:lpstr>Thermal CFD Analysis: Liquid Cooling Battery Package</vt:lpstr>
      <vt:lpstr>PowerPoint Presentation</vt:lpstr>
      <vt:lpstr>Transient Thermal Behavior</vt:lpstr>
      <vt:lpstr>PowerPoint Presentation</vt:lpstr>
      <vt:lpstr>PowerPoint Presentation</vt:lpstr>
      <vt:lpstr>PowerPoint Presentation</vt:lpstr>
      <vt:lpstr>PowerPoint Presentation</vt:lpstr>
      <vt:lpstr>1D Thermal Modeling for Thermal Management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Dongmyung Suh</dc:creator>
  <cp:lastModifiedBy>Dongmyung Suh</cp:lastModifiedBy>
  <cp:revision>5</cp:revision>
  <dcterms:created xsi:type="dcterms:W3CDTF">2025-09-28T17:50:50Z</dcterms:created>
  <dcterms:modified xsi:type="dcterms:W3CDTF">2025-11-02T03:09:35Z</dcterms:modified>
</cp:coreProperties>
</file>